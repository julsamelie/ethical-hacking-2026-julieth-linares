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4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160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Documentación de las 31 consultas realmente ejecutadas en las capturas aportadas. Se adapta el contenido al esquema real con autorización de la autora. El título, autoría, comunidad y fecha corresponden al encargo.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/>
              <a:t>Ejercicio </a:t>
            </a:r>
            <a:r>
              <a:t>1: Selección completa de registros</a:t>
            </a:r>
          </a:p>
          <a:p>
            <a:r>
              <a:t>Objetivo: </a:t>
            </a:r>
            <a:r>
              <a:rPr lang="es-VE"/>
              <a:t>Quise ver todos los datos </a:t>
            </a:r>
            <a:r>
              <a:t>de family_members</a:t>
            </a:r>
            <a:r>
              <a:rPr lang="es-VE"/>
              <a:t> antes de aplicar filtros</a:t>
            </a:r>
            <a:r>
              <a:t>.</a:t>
            </a:r>
          </a:p>
          <a:p>
            <a:r>
              <a:t>Concepto SQL: SELECT * y FROM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* FROM family_members;</a:t>
            </a:r>
          </a:p>
          <a:p>
            <a:r>
              <a:rPr lang="es-VE"/>
              <a:t>Lo que obtuve</a:t>
            </a:r>
            <a:r>
              <a:t>: </a:t>
            </a:r>
            <a:r>
              <a:rPr lang="es-VE"/>
              <a:t>Obtuve los registros de </a:t>
            </a:r>
            <a:r>
              <a:t>Dave, Mary y Pickles con </a:t>
            </a:r>
            <a:r>
              <a:rPr lang="es-VE"/>
              <a:t>todas </a:t>
            </a:r>
            <a:r>
              <a:t>sus </a:t>
            </a:r>
            <a:r>
              <a:rPr lang="es-VE"/>
              <a:t>columnas</a:t>
            </a:r>
            <a:r>
              <a:t>.</a:t>
            </a:r>
          </a:p>
          <a:p>
            <a:r>
              <a:rPr lang="es-VE"/>
              <a:t>Lo que aprendí</a:t>
            </a:r>
            <a:r>
              <a:t>: </a:t>
            </a:r>
            <a:r>
              <a:rPr lang="es-VE"/>
              <a:t>SELECT * me ayuda a explorar una tabla</a:t>
            </a:r>
            <a:r>
              <a:t>. </a:t>
            </a:r>
            <a:r>
              <a:rPr lang="es-VE"/>
              <a:t>Después conviene elegir solo los </a:t>
            </a:r>
            <a:r>
              <a:t>campos </a:t>
            </a:r>
            <a:r>
              <a:rPr lang="es-VE"/>
              <a:t>necesarios</a:t>
            </a:r>
            <a:r>
              <a:t>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Me serviría para revisar un inventario de software antes </a:t>
            </a:r>
            <a:r>
              <a:t>de </a:t>
            </a:r>
            <a:r>
              <a:rPr lang="es-VE"/>
              <a:t>definir qué </a:t>
            </a:r>
            <a:r>
              <a:t>datos </a:t>
            </a:r>
            <a:r>
              <a:rPr lang="es-VE"/>
              <a:t>necesito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1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endParaRPr/>
          </a:p>
          <a:p>
            <a:r>
              <a:rPr lang="es-VE"/>
              <a:t>Ejercicio </a:t>
            </a:r>
            <a:r>
              <a:t>2: Selección de campos específicos</a:t>
            </a:r>
          </a:p>
          <a:p>
            <a:r>
              <a:t>Objetivo: </a:t>
            </a:r>
            <a:r>
              <a:rPr lang="es-VE"/>
              <a:t>Seleccioné solo </a:t>
            </a:r>
            <a:r>
              <a:t>el nombre y la especie de cada </a:t>
            </a:r>
            <a:r>
              <a:rPr lang="es-VE"/>
              <a:t>registro</a:t>
            </a:r>
            <a:r>
              <a:t>.</a:t>
            </a:r>
          </a:p>
          <a:p>
            <a:r>
              <a:t>Concepto SQL: Proyección de columnas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name, species FROM family_members;</a:t>
            </a:r>
          </a:p>
          <a:p>
            <a:r>
              <a:rPr lang="es-VE"/>
              <a:t>Lo que obtuve</a:t>
            </a:r>
            <a:r>
              <a:t>: </a:t>
            </a:r>
            <a:r>
              <a:rPr lang="es-VE"/>
              <a:t>Vi </a:t>
            </a:r>
            <a:r>
              <a:t>los </a:t>
            </a:r>
            <a:r>
              <a:rPr lang="es-VE"/>
              <a:t>mismos </a:t>
            </a:r>
            <a:r>
              <a:t>tres registros</a:t>
            </a:r>
            <a:r>
              <a:rPr lang="es-VE"/>
              <a:t>, pero con</a:t>
            </a:r>
            <a:r>
              <a:t> dos columnas</a:t>
            </a:r>
            <a:r>
              <a:rPr lang="es-VE"/>
              <a:t> en lugar de cinco</a:t>
            </a:r>
            <a:r>
              <a:t>.</a:t>
            </a:r>
          </a:p>
          <a:p>
            <a:r>
              <a:rPr lang="es-VE"/>
              <a:t>Lo que aprendí</a:t>
            </a:r>
            <a:r>
              <a:t>: </a:t>
            </a:r>
            <a:r>
              <a:rPr lang="es-VE"/>
              <a:t>Puedo reducir </a:t>
            </a:r>
            <a:r>
              <a:t>la </a:t>
            </a:r>
            <a:r>
              <a:rPr lang="es-VE"/>
              <a:t>salida sin perder los registros que necesito revisar</a:t>
            </a:r>
            <a:r>
              <a:t>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Lo usaría para preparar reportes </a:t>
            </a:r>
            <a:r>
              <a:t>con </a:t>
            </a:r>
            <a:r>
              <a:rPr lang="es-VE"/>
              <a:t>lo necesario, sin incluir </a:t>
            </a:r>
            <a:r>
              <a:t>datos personales</a:t>
            </a:r>
            <a:r>
              <a:rPr lang="es-VE"/>
              <a:t> de más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2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r>
              <a:rPr lang="es-VE"/>
              <a:t>Las aplicaciones describen posibilidades vinculadas a tareas generales de revisión y seguimiento. No incluyen información interna ni afirman un uso actual de estas consultas en el trabajo.</a:t>
            </a:r>
          </a:p>
          <a:p>
            <a:r>
              <a:rPr lang="es-VE"/>
              <a:t>Evidencia visual: recortes originales del editor y del panel de ejecución con confirmación «coincide con lo esperado», pestañas y resultado. Solo se omite espacio vacío del editor. No se alteran la consulta, la confirmación ni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/>
              <a:t>Ejercicio </a:t>
            </a:r>
            <a:r>
              <a:t>3: Filtro por igualdad de texto</a:t>
            </a:r>
          </a:p>
          <a:p>
            <a:r>
              <a:t>Objetivo: </a:t>
            </a:r>
            <a:r>
              <a:rPr lang="es-VE"/>
              <a:t>Busqué </a:t>
            </a:r>
            <a:r>
              <a:t>los registros cuya especie </a:t>
            </a:r>
            <a:r>
              <a:rPr lang="es-VE"/>
              <a:t>era </a:t>
            </a:r>
            <a:r>
              <a:t>dog.</a:t>
            </a:r>
          </a:p>
          <a:p>
            <a:r>
              <a:t>Concepto SQL: WHERE y operador =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* FROM family_members WHERE species = 'dog';</a:t>
            </a:r>
          </a:p>
          <a:p>
            <a:r>
              <a:rPr lang="es-VE"/>
              <a:t>Lo que obtuve</a:t>
            </a:r>
            <a:r>
              <a:t>: </a:t>
            </a:r>
            <a:r>
              <a:rPr lang="es-VE"/>
              <a:t>Solo apareció </a:t>
            </a:r>
            <a:r>
              <a:t>Pickles</a:t>
            </a:r>
            <a:r>
              <a:rPr lang="es-VE"/>
              <a:t>. Los</a:t>
            </a:r>
            <a:r>
              <a:t> registros de especie human</a:t>
            </a:r>
            <a:r>
              <a:rPr lang="es-VE"/>
              <a:t> quedaron fuera</a:t>
            </a:r>
            <a:r>
              <a:t>.</a:t>
            </a:r>
          </a:p>
          <a:p>
            <a:r>
              <a:rPr lang="es-VE"/>
              <a:t>Lo que aprendí</a:t>
            </a:r>
            <a:r>
              <a:t>: </a:t>
            </a:r>
            <a:r>
              <a:rPr lang="es-VE"/>
              <a:t>La igualdad permite buscar un valor exacto. </a:t>
            </a:r>
            <a:r>
              <a:t>Las cadenas </a:t>
            </a:r>
            <a:r>
              <a:rPr lang="es-VE"/>
              <a:t>necesitan </a:t>
            </a:r>
            <a:r>
              <a:t>comillas.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Me ayudaría a ubicar un software específico dentro </a:t>
            </a:r>
            <a:r>
              <a:t>de </a:t>
            </a:r>
            <a:r>
              <a:rPr lang="es-VE"/>
              <a:t>un inventario </a:t>
            </a:r>
            <a:r>
              <a:t>de </a:t>
            </a:r>
            <a:r>
              <a:rPr lang="es-VE"/>
              <a:t>equipos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3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endParaRPr/>
          </a:p>
          <a:p>
            <a:r>
              <a:rPr lang="es-VE"/>
              <a:t>Ejercicio </a:t>
            </a:r>
            <a:r>
              <a:t>4: Filtro numérico estricto</a:t>
            </a:r>
          </a:p>
          <a:p>
            <a:r>
              <a:t>Objetivo: </a:t>
            </a:r>
            <a:r>
              <a:rPr lang="es-VE"/>
              <a:t>Filtré a quienes tenían </a:t>
            </a:r>
            <a:r>
              <a:t>más de 190 libros</a:t>
            </a:r>
            <a:r>
              <a:rPr lang="es-VE"/>
              <a:t> leídos</a:t>
            </a:r>
            <a:r>
              <a:t>.</a:t>
            </a:r>
          </a:p>
          <a:p>
            <a:r>
              <a:t>Concepto SQL: WHERE y operador &gt;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* FROM family_members WHERE num_books_read &gt; 190;</a:t>
            </a:r>
          </a:p>
          <a:p>
            <a:r>
              <a:rPr lang="es-VE"/>
              <a:t>Lo que obtuve</a:t>
            </a:r>
            <a:r>
              <a:t>: </a:t>
            </a:r>
            <a:r>
              <a:rPr lang="es-VE"/>
              <a:t>Obtuve a </a:t>
            </a:r>
            <a:r>
              <a:t>Dave, con 200 libros.</a:t>
            </a:r>
            <a:r>
              <a:rPr lang="es-VE"/>
              <a:t> El filtro excluyó los demás registros.</a:t>
            </a:r>
            <a:endParaRPr/>
          </a:p>
          <a:p>
            <a:r>
              <a:rPr lang="es-VE"/>
              <a:t>Lo que aprendí</a:t>
            </a:r>
            <a:r>
              <a:t>: El operador &gt; </a:t>
            </a:r>
            <a:r>
              <a:rPr lang="es-VE"/>
              <a:t>deja fuera </a:t>
            </a:r>
            <a:r>
              <a:t>el </a:t>
            </a:r>
            <a:r>
              <a:rPr lang="es-VE"/>
              <a:t>valor del </a:t>
            </a:r>
            <a:r>
              <a:t>límite </a:t>
            </a:r>
            <a:r>
              <a:rPr lang="es-VE"/>
              <a:t>que definí</a:t>
            </a:r>
            <a:r>
              <a:t>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Lo aplicaría para separar hallazgos que superen </a:t>
            </a:r>
            <a:r>
              <a:t>un </a:t>
            </a:r>
            <a:r>
              <a:rPr lang="es-VE"/>
              <a:t>umbral </a:t>
            </a:r>
            <a:r>
              <a:t>de </a:t>
            </a:r>
            <a:r>
              <a:rPr lang="es-VE"/>
              <a:t>antigüedad en un reporte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4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r>
              <a:rPr lang="es-VE"/>
              <a:t>Las aplicaciones describen posibilidades vinculadas a tareas generales de revisión y seguimiento. No incluyen información interna ni afirman un uso actual de estas consultas en el trabajo.</a:t>
            </a:r>
          </a:p>
          <a:p>
            <a:r>
              <a:rPr lang="es-VE"/>
              <a:t>Evidencia visual: recortes originales del editor y del panel de ejecución con confirmación «coincide con lo esperado», pestañas y resultado. Solo se omite espacio vacío del editor. No se alteran la consulta, la confirmación ni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/>
              <a:t>Ejercicio </a:t>
            </a:r>
            <a:r>
              <a:t>5: Filtro numérico inclusivo</a:t>
            </a:r>
          </a:p>
          <a:p>
            <a:r>
              <a:t>Objetivo: </a:t>
            </a:r>
            <a:r>
              <a:rPr lang="es-VE"/>
              <a:t>Busqué a quienes tenían </a:t>
            </a:r>
            <a:r>
              <a:t>al menos 180 libros leídos.</a:t>
            </a:r>
          </a:p>
          <a:p>
            <a:r>
              <a:t>Concepto SQL: WHERE y operador &gt;=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* FROM family_members WHERE num_books_read &gt;= 180;</a:t>
            </a:r>
          </a:p>
          <a:p>
            <a:r>
              <a:rPr lang="es-VE"/>
              <a:t>Lo que obtuve</a:t>
            </a:r>
            <a:r>
              <a:t>: </a:t>
            </a:r>
            <a:r>
              <a:rPr lang="es-VE"/>
              <a:t>Aparecieron </a:t>
            </a:r>
            <a:r>
              <a:t>Dave y Mary</a:t>
            </a:r>
            <a:r>
              <a:rPr lang="es-VE"/>
              <a:t>. Mary entró porque tenía exactamente</a:t>
            </a:r>
            <a:r>
              <a:t> 180.</a:t>
            </a:r>
          </a:p>
          <a:p>
            <a:r>
              <a:rPr lang="es-VE"/>
              <a:t>Lo que aprendí</a:t>
            </a:r>
            <a:r>
              <a:t>: </a:t>
            </a:r>
            <a:r>
              <a:rPr lang="es-VE"/>
              <a:t>Con </a:t>
            </a:r>
            <a:r>
              <a:t>&gt;= </a:t>
            </a:r>
            <a:r>
              <a:rPr lang="es-VE"/>
              <a:t>incluyo también los registros que coinciden con el límite</a:t>
            </a:r>
            <a:r>
              <a:t>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Me serviría para revisar pendientes con un tiempo </a:t>
            </a:r>
            <a:r>
              <a:t>de </a:t>
            </a:r>
            <a:r>
              <a:rPr lang="es-VE"/>
              <a:t>atención </a:t>
            </a:r>
            <a:r>
              <a:t>igual o </a:t>
            </a:r>
            <a:r>
              <a:rPr lang="es-VE"/>
              <a:t>mayor al definido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5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endParaRPr/>
          </a:p>
          <a:p>
            <a:r>
              <a:rPr lang="es-VE"/>
              <a:t>Ejercicio </a:t>
            </a:r>
            <a:r>
              <a:t>6: Intersección de condiciones</a:t>
            </a:r>
          </a:p>
          <a:p>
            <a:r>
              <a:t>Objetivo: </a:t>
            </a:r>
            <a:r>
              <a:rPr lang="es-VE"/>
              <a:t>Combiné dos criterios: especie dog y </a:t>
            </a:r>
            <a:r>
              <a:t>altura </a:t>
            </a:r>
            <a:r>
              <a:rPr lang="es-VE"/>
              <a:t>menor de </a:t>
            </a:r>
            <a:r>
              <a:t>45 cm.</a:t>
            </a:r>
          </a:p>
          <a:p>
            <a:r>
              <a:t>Concepto SQL: Operador lógico AND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* FROM friends_of_pickles</a:t>
            </a:r>
          </a:p>
          <a:p>
            <a:r>
              <a:t>WHERE height_cm &lt; 45 AND species = 'dog';</a:t>
            </a:r>
          </a:p>
          <a:p>
            <a:r>
              <a:rPr lang="es-VE"/>
              <a:t>Lo que obtuve</a:t>
            </a:r>
            <a:r>
              <a:t>: </a:t>
            </a:r>
            <a:r>
              <a:rPr lang="es-VE"/>
              <a:t>Obtuve </a:t>
            </a:r>
            <a:r>
              <a:t>a Pickles</a:t>
            </a:r>
            <a:r>
              <a:rPr lang="es-VE"/>
              <a:t> porque cumplía ambas condiciones</a:t>
            </a:r>
            <a:r>
              <a:t>.</a:t>
            </a:r>
          </a:p>
          <a:p>
            <a:r>
              <a:rPr lang="es-VE"/>
              <a:t>Lo que aprendí</a:t>
            </a:r>
            <a:r>
              <a:t>: AND </a:t>
            </a:r>
            <a:r>
              <a:rPr lang="es-VE"/>
              <a:t>me permite acotar la revisión a registros </a:t>
            </a:r>
            <a:r>
              <a:t>que </a:t>
            </a:r>
            <a:r>
              <a:rPr lang="es-VE"/>
              <a:t>cumplan todos los criterios</a:t>
            </a:r>
            <a:r>
              <a:t>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Lo usaría para revisar hallazgos abiertos de una categoría concreta antes </a:t>
            </a:r>
            <a:r>
              <a:t>de </a:t>
            </a:r>
            <a:r>
              <a:rPr lang="es-VE"/>
              <a:t>darles seguimiento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6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r>
              <a:rPr lang="es-VE"/>
              <a:t>Las aplicaciones describen posibilidades vinculadas a tareas generales de revisión y seguimiento. No incluyen información interna ni afirman un uso actual de estas consultas en el trabajo.</a:t>
            </a:r>
          </a:p>
          <a:p>
            <a:r>
              <a:rPr lang="es-VE"/>
              <a:t>Evidencia visual: recortes originales del editor y del panel de ejecución con confirmación «coincide con lo esperado», pestañas y resultado. Solo se omite espacio vacío del editor. No se alteran la consulta, la confirmación ni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/>
              <a:t>Ejercicio </a:t>
            </a:r>
            <a:r>
              <a:t>7: Unión inclusiva de condiciones</a:t>
            </a:r>
          </a:p>
          <a:p>
            <a:r>
              <a:t>Objetivo: </a:t>
            </a:r>
            <a:r>
              <a:rPr lang="es-VE"/>
              <a:t>Busqué registros </a:t>
            </a:r>
            <a:r>
              <a:t>de menos de 45 cm o de especie dog.</a:t>
            </a:r>
          </a:p>
          <a:p>
            <a:r>
              <a:t>Concepto SQL: Operador lógico OR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* FROM friends_of_pickles</a:t>
            </a:r>
          </a:p>
          <a:p>
            <a:r>
              <a:t>WHERE height_cm &lt; 45 OR species = 'dog';</a:t>
            </a:r>
          </a:p>
          <a:p>
            <a:r>
              <a:rPr lang="es-VE"/>
              <a:t>Lo que obtuve</a:t>
            </a:r>
            <a:r>
              <a:t>: La salida </a:t>
            </a:r>
            <a:r>
              <a:rPr lang="es-VE"/>
              <a:t>incluyó </a:t>
            </a:r>
            <a:r>
              <a:t>registros bajos y perros, </a:t>
            </a:r>
            <a:r>
              <a:rPr lang="es-VE"/>
              <a:t>aunque no cumplieran ambos criterios</a:t>
            </a:r>
            <a:r>
              <a:t>.</a:t>
            </a:r>
          </a:p>
          <a:p>
            <a:r>
              <a:rPr lang="es-VE"/>
              <a:t>Lo que aprendí</a:t>
            </a:r>
            <a:r>
              <a:t>: OR </a:t>
            </a:r>
            <a:r>
              <a:rPr lang="es-VE"/>
              <a:t>amplía la búsqueda </a:t>
            </a:r>
            <a:r>
              <a:t>cuando </a:t>
            </a:r>
            <a:r>
              <a:rPr lang="es-VE"/>
              <a:t>basta con que se cumpla </a:t>
            </a:r>
            <a:r>
              <a:t>una condición.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Me ayudaría a reunir pendientes </a:t>
            </a:r>
            <a:r>
              <a:t>de </a:t>
            </a:r>
            <a:r>
              <a:rPr lang="es-VE"/>
              <a:t>dos categorías para preparar una misma revisión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7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endParaRPr/>
          </a:p>
          <a:p>
            <a:r>
              <a:rPr lang="es-VE"/>
              <a:t>Ejercicio </a:t>
            </a:r>
            <a:r>
              <a:t>8: Exclusión de un conjunto</a:t>
            </a:r>
          </a:p>
          <a:p>
            <a:r>
              <a:t>Objetivo: </a:t>
            </a:r>
            <a:r>
              <a:rPr lang="es-VE"/>
              <a:t>Excluí las </a:t>
            </a:r>
            <a:r>
              <a:t>especies cat y dog</a:t>
            </a:r>
            <a:r>
              <a:rPr lang="es-VE"/>
              <a:t> de la consulta</a:t>
            </a:r>
            <a:r>
              <a:t>.</a:t>
            </a:r>
          </a:p>
          <a:p>
            <a:r>
              <a:t>Concepto SQL: NOT IN (lista de valores)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* FROM friends_of_pickles</a:t>
            </a:r>
          </a:p>
          <a:p>
            <a:r>
              <a:t>WHERE species NOT IN ('cat', 'dog');</a:t>
            </a:r>
          </a:p>
          <a:p>
            <a:r>
              <a:rPr lang="es-VE"/>
              <a:t>Lo que obtuve</a:t>
            </a:r>
            <a:r>
              <a:t>: La </a:t>
            </a:r>
            <a:r>
              <a:rPr lang="es-VE"/>
              <a:t>salida conservó </a:t>
            </a:r>
            <a:r>
              <a:t>a Dave y Mary, ambos de especie human.</a:t>
            </a:r>
          </a:p>
          <a:p>
            <a:r>
              <a:rPr lang="es-VE"/>
              <a:t>Lo que aprendí</a:t>
            </a:r>
            <a:r>
              <a:t>: NOT IN </a:t>
            </a:r>
            <a:r>
              <a:rPr lang="es-VE"/>
              <a:t>simplifica varias </a:t>
            </a:r>
            <a:r>
              <a:t>exclusiones. </a:t>
            </a:r>
            <a:r>
              <a:rPr lang="es-VE"/>
              <a:t>Debo tener cuidado con los </a:t>
            </a:r>
            <a:r>
              <a:t>valores NULL.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Lo aplicaría para separar </a:t>
            </a:r>
            <a:r>
              <a:t>estados </a:t>
            </a:r>
            <a:r>
              <a:rPr lang="es-VE"/>
              <a:t>que no pertenezcan a las categorías previstas en un reporte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8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r>
              <a:rPr lang="es-VE"/>
              <a:t>Las aplicaciones describen posibilidades vinculadas a tareas generales de revisión y seguimiento. No incluyen información interna ni afirman un uso actual de estas consultas en el trabajo.</a:t>
            </a:r>
          </a:p>
          <a:p>
            <a:r>
              <a:rPr lang="es-VE"/>
              <a:t>Evidencia visual: recortes originales del editor y del panel de ejecución con confirmación «coincide con lo esperado», pestañas y resultado. Solo se omite espacio vacío del editor. No se alteran la consulta, la confirmación ni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/>
              <a:t>Ejercicio </a:t>
            </a:r>
            <a:r>
              <a:t>9: Valores distintos con filtro</a:t>
            </a:r>
          </a:p>
          <a:p>
            <a:r>
              <a:t>Objetivo: </a:t>
            </a:r>
            <a:r>
              <a:rPr lang="es-VE"/>
              <a:t>Busqué </a:t>
            </a:r>
            <a:r>
              <a:t>las especies </a:t>
            </a:r>
            <a:r>
              <a:rPr lang="es-VE"/>
              <a:t>distintas </a:t>
            </a:r>
            <a:r>
              <a:t>de registros con </a:t>
            </a:r>
            <a:r>
              <a:rPr lang="es-VE"/>
              <a:t>más de </a:t>
            </a:r>
            <a:r>
              <a:t>50 cm</a:t>
            </a:r>
            <a:r>
              <a:rPr lang="es-VE"/>
              <a:t> de altura</a:t>
            </a:r>
            <a:r>
              <a:t>.</a:t>
            </a:r>
          </a:p>
          <a:p>
            <a:r>
              <a:t>Concepto SQL: DISTINCT combinado con WHERE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DISTINCT species FROM friends_of_pickles</a:t>
            </a:r>
          </a:p>
          <a:p>
            <a:r>
              <a:t>WHERE height_cm &gt; 50;</a:t>
            </a:r>
          </a:p>
          <a:p>
            <a:r>
              <a:rPr lang="es-VE"/>
              <a:t>Lo que obtuve</a:t>
            </a:r>
            <a:r>
              <a:t>: </a:t>
            </a:r>
            <a:r>
              <a:rPr lang="es-VE"/>
              <a:t>Obtuve </a:t>
            </a:r>
            <a:r>
              <a:t>human y dog, sin repetir las especies.</a:t>
            </a:r>
          </a:p>
          <a:p>
            <a:r>
              <a:rPr lang="es-VE"/>
              <a:t>Lo que aprendí</a:t>
            </a:r>
            <a:r>
              <a:t>: DISTINCT </a:t>
            </a:r>
            <a:r>
              <a:rPr lang="es-VE"/>
              <a:t>me ayuda a ver categorías sin arrastrar los registros </a:t>
            </a:r>
            <a:r>
              <a:t>duplicados.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Me serviría para identificar los tipos </a:t>
            </a:r>
            <a:r>
              <a:t>de </a:t>
            </a:r>
            <a:r>
              <a:rPr lang="es-VE"/>
              <a:t>software </a:t>
            </a:r>
            <a:r>
              <a:t>o </a:t>
            </a:r>
            <a:r>
              <a:rPr lang="es-VE"/>
              <a:t>hallazgos presentes en un inventario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9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endParaRPr/>
          </a:p>
          <a:p>
            <a:r>
              <a:rPr lang="es-VE"/>
              <a:t>Ejercicio </a:t>
            </a:r>
            <a:r>
              <a:t>10: Ordenamiento descendente</a:t>
            </a:r>
          </a:p>
          <a:p>
            <a:r>
              <a:t>Objetivo: </a:t>
            </a:r>
            <a:r>
              <a:rPr lang="es-VE"/>
              <a:t>Ordené </a:t>
            </a:r>
            <a:r>
              <a:t>los registros desde </a:t>
            </a:r>
            <a:r>
              <a:rPr lang="es-VE"/>
              <a:t>la </a:t>
            </a:r>
            <a:r>
              <a:t>mayor </a:t>
            </a:r>
            <a:r>
              <a:rPr lang="es-VE"/>
              <a:t>altura hasta la </a:t>
            </a:r>
            <a:r>
              <a:t>menor.</a:t>
            </a:r>
          </a:p>
          <a:p>
            <a:r>
              <a:t>Concepto SQL: ORDER BY y DESC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* FROM friends_of_pickles</a:t>
            </a:r>
          </a:p>
          <a:p>
            <a:r>
              <a:t>ORDER BY height_cm DESC;</a:t>
            </a:r>
          </a:p>
          <a:p>
            <a:r>
              <a:rPr lang="es-VE"/>
              <a:t>Lo que obtuve</a:t>
            </a:r>
            <a:r>
              <a:t>: Dave y Mary </a:t>
            </a:r>
            <a:r>
              <a:rPr lang="es-VE"/>
              <a:t>quedaron al inicio</a:t>
            </a:r>
            <a:r>
              <a:t>. </a:t>
            </a:r>
            <a:r>
              <a:rPr lang="es-VE"/>
              <a:t>El resto siguió el </a:t>
            </a:r>
            <a:r>
              <a:t>orden descendente.</a:t>
            </a:r>
          </a:p>
          <a:p>
            <a:r>
              <a:rPr lang="es-VE"/>
              <a:t>Lo que aprendí</a:t>
            </a:r>
            <a:r>
              <a:t>: </a:t>
            </a:r>
            <a:r>
              <a:rPr lang="es-VE"/>
              <a:t>Puedo ordenar una </a:t>
            </a:r>
            <a:r>
              <a:t>salida sin </a:t>
            </a:r>
            <a:r>
              <a:rPr lang="es-VE"/>
              <a:t>cambiar la información de la tabla</a:t>
            </a:r>
            <a:r>
              <a:t>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Lo usaría para organizar los pendientes más antiguos antes </a:t>
            </a:r>
            <a:r>
              <a:t>de una </a:t>
            </a:r>
            <a:r>
              <a:rPr lang="es-VE"/>
              <a:t>reunión de seguimiento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10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r>
              <a:rPr lang="es-VE"/>
              <a:t>Las aplicaciones describen posibilidades vinculadas a tareas generales de revisión y seguimiento. No incluyen información interna ni afirman un uso actual de estas consultas en el trabajo.</a:t>
            </a:r>
          </a:p>
          <a:p>
            <a:r>
              <a:rPr lang="es-VE"/>
              <a:t>Evidencia visual: recortes originales del editor y del panel de ejecución con confirmación «coincide con lo esperado», pestañas y resultado. Solo se omite espacio vacío del editor. No se alteran la consulta, la confirmación ni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/>
              <a:t>Ejercicio </a:t>
            </a:r>
            <a:r>
              <a:t>11: Limitación de registros</a:t>
            </a:r>
          </a:p>
          <a:p>
            <a:r>
              <a:t>Objetivo: </a:t>
            </a:r>
            <a:r>
              <a:rPr lang="es-VE"/>
              <a:t>Limité </a:t>
            </a:r>
            <a:r>
              <a:t>la </a:t>
            </a:r>
            <a:r>
              <a:rPr lang="es-VE"/>
              <a:t>salida </a:t>
            </a:r>
            <a:r>
              <a:t>a </a:t>
            </a:r>
            <a:r>
              <a:rPr lang="es-VE"/>
              <a:t>una fila después de aplicar la ordenación</a:t>
            </a:r>
            <a:r>
              <a:t>.</a:t>
            </a:r>
          </a:p>
          <a:p>
            <a:r>
              <a:t>Concepto SQL: ORDER BY multicolumna y LIMIT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* FROM friends_of_pickles</a:t>
            </a:r>
          </a:p>
          <a:p>
            <a:r>
              <a:t>ORDER BY id, name, gender, height_cm, species DESC LIMIT 1;</a:t>
            </a:r>
          </a:p>
          <a:p>
            <a:r>
              <a:rPr lang="es-VE"/>
              <a:t>Lo que obtuve</a:t>
            </a:r>
            <a:r>
              <a:t>: </a:t>
            </a:r>
            <a:r>
              <a:rPr lang="es-VE"/>
              <a:t>Apareció </a:t>
            </a:r>
            <a:r>
              <a:t>Dave. </a:t>
            </a:r>
            <a:r>
              <a:rPr lang="es-VE"/>
              <a:t>Noté que mi consulta ordena primero por </a:t>
            </a:r>
            <a:r>
              <a:t>id</a:t>
            </a:r>
            <a:r>
              <a:rPr lang="es-VE"/>
              <a:t>, no por altura</a:t>
            </a:r>
            <a:r>
              <a:t>.</a:t>
            </a:r>
          </a:p>
          <a:p>
            <a:r>
              <a:rPr lang="es-VE"/>
              <a:t>Lo que aprendí</a:t>
            </a:r>
            <a:r>
              <a:t>: Para garantizar el más alto, </a:t>
            </a:r>
            <a:r>
              <a:rPr lang="es-VE"/>
              <a:t>debo usar </a:t>
            </a:r>
            <a:r>
              <a:t>ORDER BY height_cm DESC LIMIT 1.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Me recuerda que debo revisar el </a:t>
            </a:r>
            <a:r>
              <a:t>criterio </a:t>
            </a:r>
            <a:r>
              <a:rPr lang="es-VE"/>
              <a:t>antes </a:t>
            </a:r>
            <a:r>
              <a:t>de </a:t>
            </a:r>
            <a:r>
              <a:rPr lang="es-VE"/>
              <a:t>presentar un caso como el más prioritario</a:t>
            </a:r>
            <a:r>
              <a:t>.</a:t>
            </a:r>
          </a:p>
          <a:p>
            <a:r>
              <a:t>Hallazgo: el enunciado pide el registro más alto, pero la consulta ejecutada ordena primero por id. El resultado coincide en estos datos, sin garantizar la intención para otros conjuntos.</a:t>
            </a:r>
          </a:p>
          <a:p>
            <a:r>
              <a:rPr lang="es-VE"/>
              <a:t>Fuente: captura original </a:t>
            </a:r>
            <a:r>
              <a:t>11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endParaRPr/>
          </a:p>
          <a:p>
            <a:r>
              <a:rPr lang="es-VE"/>
              <a:t>Ejercicio </a:t>
            </a:r>
            <a:r>
              <a:t>12: Conteo total de filas</a:t>
            </a:r>
          </a:p>
          <a:p>
            <a:r>
              <a:t>Objetivo: </a:t>
            </a:r>
            <a:r>
              <a:rPr lang="es-VE"/>
              <a:t>Conté todos los </a:t>
            </a:r>
            <a:r>
              <a:t>registros de </a:t>
            </a:r>
            <a:r>
              <a:rPr lang="es-VE"/>
              <a:t>friends_of_pickles</a:t>
            </a:r>
            <a:r>
              <a:t>.</a:t>
            </a:r>
          </a:p>
          <a:p>
            <a:r>
              <a:t>Concepto SQL: Función de agregación COUNT(*)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COUNT(*) FROM friends_of_pickles;</a:t>
            </a:r>
          </a:p>
          <a:p>
            <a:r>
              <a:rPr lang="es-VE"/>
              <a:t>Lo que obtuve</a:t>
            </a:r>
            <a:r>
              <a:t>: La consulta </a:t>
            </a:r>
            <a:r>
              <a:rPr lang="es-VE"/>
              <a:t>devolvió </a:t>
            </a:r>
            <a:r>
              <a:t>7</a:t>
            </a:r>
            <a:r>
              <a:rPr lang="es-VE"/>
              <a:t>, que es el total de filas de la tabla</a:t>
            </a:r>
            <a:r>
              <a:t>.</a:t>
            </a:r>
          </a:p>
          <a:p>
            <a:r>
              <a:rPr lang="es-VE"/>
              <a:t>Lo que aprendí</a:t>
            </a:r>
            <a:r>
              <a:t>: COUNT(*) cuenta filas</a:t>
            </a:r>
            <a:r>
              <a:rPr lang="es-VE"/>
              <a:t> y evita que tenga que revisar el total manualmente</a:t>
            </a:r>
            <a:r>
              <a:t>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Me ayudaría a comprobar cuántos registros recibí antes </a:t>
            </a:r>
            <a:r>
              <a:t>de </a:t>
            </a:r>
            <a:r>
              <a:rPr lang="es-VE"/>
              <a:t>consolidar un reporte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12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r>
              <a:rPr lang="es-VE"/>
              <a:t>Las aplicaciones describen posibilidades vinculadas a tareas generales de revisión y seguimiento. No incluyen información interna ni afirman un uso actual de estas consultas en el trabajo.</a:t>
            </a:r>
          </a:p>
          <a:p>
            <a:r>
              <a:rPr lang="es-VE"/>
              <a:t>Evidencia visual: recortes originales del editor y del panel de ejecución con confirmación «coincide con lo esperado», pestañas y resultado. Solo se omite espacio vacío del editor. No se alteran la consulta, la confirmación ni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/>
              <a:t>Ejercicio </a:t>
            </a:r>
            <a:r>
              <a:t>13: Conteo condicionado</a:t>
            </a:r>
          </a:p>
          <a:p>
            <a:r>
              <a:t>Objetivo: </a:t>
            </a:r>
            <a:r>
              <a:rPr lang="es-VE"/>
              <a:t>Conté </a:t>
            </a:r>
            <a:r>
              <a:t>únicamente los registros de especie dog.</a:t>
            </a:r>
          </a:p>
          <a:p>
            <a:r>
              <a:t>Concepto SQL: COUNT(*) combinado con WHERE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COUNT(*) FROM friends_of_pickles</a:t>
            </a:r>
          </a:p>
          <a:p>
            <a:r>
              <a:t>WHERE species = 'dog';</a:t>
            </a:r>
          </a:p>
          <a:p>
            <a:r>
              <a:rPr lang="es-VE"/>
              <a:t>Lo que obtuve</a:t>
            </a:r>
            <a:r>
              <a:t>: </a:t>
            </a:r>
            <a:r>
              <a:rPr lang="es-VE"/>
              <a:t>Obtuve </a:t>
            </a:r>
            <a:r>
              <a:t>un </a:t>
            </a:r>
            <a:r>
              <a:rPr lang="es-VE"/>
              <a:t>total </a:t>
            </a:r>
            <a:r>
              <a:t>de 3 registros</a:t>
            </a:r>
            <a:r>
              <a:rPr lang="es-VE"/>
              <a:t> después de aplicar el filtro</a:t>
            </a:r>
            <a:r>
              <a:t>.</a:t>
            </a:r>
          </a:p>
          <a:p>
            <a:r>
              <a:rPr lang="es-VE"/>
              <a:t>Lo que aprendí</a:t>
            </a:r>
            <a:r>
              <a:t>: </a:t>
            </a:r>
            <a:r>
              <a:rPr lang="es-VE"/>
              <a:t>El filtro define qué </a:t>
            </a:r>
            <a:r>
              <a:t>filas </a:t>
            </a:r>
            <a:r>
              <a:rPr lang="es-VE"/>
              <a:t>entran en el conteo</a:t>
            </a:r>
            <a:r>
              <a:t>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Lo usaría para resumir cuántos pendientes hay </a:t>
            </a:r>
            <a:r>
              <a:t>de </a:t>
            </a:r>
            <a:r>
              <a:rPr lang="es-VE"/>
              <a:t>una categoría en el seguimiento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13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endParaRPr/>
          </a:p>
          <a:p>
            <a:r>
              <a:rPr lang="es-VE"/>
              <a:t>Ejercicio </a:t>
            </a:r>
            <a:r>
              <a:t>14: Suma de valores numéricos</a:t>
            </a:r>
          </a:p>
          <a:p>
            <a:r>
              <a:t>Objetivo: </a:t>
            </a:r>
            <a:r>
              <a:rPr lang="es-VE"/>
              <a:t>Sumé los </a:t>
            </a:r>
            <a:r>
              <a:t>libros leídos por los miembros</a:t>
            </a:r>
            <a:r>
              <a:rPr lang="es-VE"/>
              <a:t> de family_members</a:t>
            </a:r>
            <a:r>
              <a:t>.</a:t>
            </a:r>
          </a:p>
          <a:p>
            <a:r>
              <a:t>Concepto SQL: Función de agregación SUM()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SUM(num_books_read) FROM family_members;</a:t>
            </a:r>
          </a:p>
          <a:p>
            <a:r>
              <a:rPr lang="es-VE"/>
              <a:t>Lo que obtuve</a:t>
            </a:r>
            <a:r>
              <a:t>: </a:t>
            </a:r>
            <a:r>
              <a:rPr lang="es-VE"/>
              <a:t>Obtuve </a:t>
            </a:r>
            <a:r>
              <a:t>380, </a:t>
            </a:r>
            <a:r>
              <a:rPr lang="es-VE"/>
              <a:t>que corresponde a </a:t>
            </a:r>
            <a:r>
              <a:t>200</a:t>
            </a:r>
            <a:r>
              <a:rPr lang="es-VE"/>
              <a:t> más </a:t>
            </a:r>
            <a:r>
              <a:t>180 </a:t>
            </a:r>
            <a:r>
              <a:rPr lang="es-VE"/>
              <a:t>más </a:t>
            </a:r>
            <a:r>
              <a:t>0.</a:t>
            </a:r>
          </a:p>
          <a:p>
            <a:r>
              <a:rPr lang="es-VE"/>
              <a:t>Lo que aprendí</a:t>
            </a:r>
            <a:r>
              <a:t>: SUM </a:t>
            </a:r>
            <a:r>
              <a:rPr lang="es-VE"/>
              <a:t>reúne </a:t>
            </a:r>
            <a:r>
              <a:t>valores numéricos e ignora los </a:t>
            </a:r>
            <a:r>
              <a:rPr lang="es-VE"/>
              <a:t>datos </a:t>
            </a:r>
            <a:r>
              <a:t>NULL.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Me serviría para consolidar cantidades </a:t>
            </a:r>
            <a:r>
              <a:t>de </a:t>
            </a:r>
            <a:r>
              <a:rPr lang="es-VE"/>
              <a:t>varios registros antes </a:t>
            </a:r>
            <a:r>
              <a:t>de </a:t>
            </a:r>
            <a:r>
              <a:rPr lang="es-VE"/>
              <a:t>preparar un resumen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14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r>
              <a:rPr lang="es-VE"/>
              <a:t>Las aplicaciones describen posibilidades vinculadas a tareas generales de revisión y seguimiento. No incluyen información interna ni afirman un uso actual de estas consultas en el trabajo.</a:t>
            </a:r>
          </a:p>
          <a:p>
            <a:r>
              <a:rPr lang="es-VE"/>
              <a:t>Evidencia visual: recortes originales del editor y del panel de ejecución con confirmación «coincide con lo esperado», pestañas y resultado. Solo se omite espacio vacío del editor. No se alteran la consulta, la confirmación ni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/>
              <a:t>Ejercicio </a:t>
            </a:r>
            <a:r>
              <a:t>15: Media aritmética</a:t>
            </a:r>
          </a:p>
          <a:p>
            <a:r>
              <a:t>Objetivo: </a:t>
            </a:r>
            <a:r>
              <a:rPr lang="es-VE"/>
              <a:t>Calculé </a:t>
            </a:r>
            <a:r>
              <a:t>el promedio de libros leídos </a:t>
            </a:r>
            <a:r>
              <a:rPr lang="es-VE"/>
              <a:t>por los tres miembros</a:t>
            </a:r>
            <a:r>
              <a:t>.</a:t>
            </a:r>
          </a:p>
          <a:p>
            <a:r>
              <a:t>Concepto SQL: Función de agregación AVG()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AVG(num_books_read) FROM family_members;</a:t>
            </a:r>
          </a:p>
          <a:p>
            <a:r>
              <a:rPr lang="es-VE"/>
              <a:t>Lo que obtuve</a:t>
            </a:r>
            <a:r>
              <a:t>: El </a:t>
            </a:r>
            <a:r>
              <a:rPr lang="es-VE"/>
              <a:t>resultado fue </a:t>
            </a:r>
            <a:r>
              <a:t>aproximadamente 126,67 libros</a:t>
            </a:r>
            <a:r>
              <a:rPr lang="es-VE"/>
              <a:t>, a partir de 380 dividido entre 3</a:t>
            </a:r>
            <a:r>
              <a:t>.</a:t>
            </a:r>
          </a:p>
          <a:p>
            <a:r>
              <a:rPr lang="es-VE"/>
              <a:t>Lo que aprendí</a:t>
            </a:r>
            <a:r>
              <a:t>: AVG incluye los ceros</a:t>
            </a:r>
            <a:r>
              <a:rPr lang="es-VE"/>
              <a:t> y deja fuera los valores NULL</a:t>
            </a:r>
            <a:r>
              <a:t>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Lo aplicaría para analizar el </a:t>
            </a:r>
            <a:r>
              <a:t>tiempo promedio de </a:t>
            </a:r>
            <a:r>
              <a:rPr lang="es-VE"/>
              <a:t>atención </a:t>
            </a:r>
            <a:r>
              <a:t>de </a:t>
            </a:r>
            <a:r>
              <a:rPr lang="es-VE"/>
              <a:t>los casos que reviso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15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endParaRPr/>
          </a:p>
          <a:p>
            <a:r>
              <a:rPr lang="es-VE"/>
              <a:t>Ejercicio </a:t>
            </a:r>
            <a:r>
              <a:t>16: Valor máximo de una columna</a:t>
            </a:r>
          </a:p>
          <a:p>
            <a:r>
              <a:t>Objetivo: </a:t>
            </a:r>
            <a:r>
              <a:rPr lang="es-VE"/>
              <a:t>Busqué el </a:t>
            </a:r>
            <a:r>
              <a:t>mayor </a:t>
            </a:r>
            <a:r>
              <a:rPr lang="es-VE"/>
              <a:t>número </a:t>
            </a:r>
            <a:r>
              <a:t>de libros leídos</a:t>
            </a:r>
            <a:r>
              <a:rPr lang="es-VE"/>
              <a:t> en la tabla</a:t>
            </a:r>
            <a:r>
              <a:t>.</a:t>
            </a:r>
          </a:p>
          <a:p>
            <a:r>
              <a:t>Concepto SQL: Función de agregación MAX()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MAX(num_books_read) FROM family_members;</a:t>
            </a:r>
          </a:p>
          <a:p>
            <a:r>
              <a:rPr lang="es-VE"/>
              <a:t>Lo que obtuve</a:t>
            </a:r>
            <a:r>
              <a:t>: La consulta </a:t>
            </a:r>
            <a:r>
              <a:rPr lang="es-VE"/>
              <a:t>devolvió </a:t>
            </a:r>
            <a:r>
              <a:t>200 como </a:t>
            </a:r>
            <a:r>
              <a:rPr lang="es-VE"/>
              <a:t>valor </a:t>
            </a:r>
            <a:r>
              <a:t>máximo.</a:t>
            </a:r>
          </a:p>
          <a:p>
            <a:r>
              <a:rPr lang="es-VE"/>
              <a:t>Lo que aprendí</a:t>
            </a:r>
            <a:r>
              <a:t>: MAX </a:t>
            </a:r>
            <a:r>
              <a:rPr lang="es-VE"/>
              <a:t>devuelve </a:t>
            </a:r>
            <a:r>
              <a:t>el valor. Para </a:t>
            </a:r>
            <a:r>
              <a:rPr lang="es-VE"/>
              <a:t>ver </a:t>
            </a:r>
            <a:r>
              <a:t>la fila </a:t>
            </a:r>
            <a:r>
              <a:rPr lang="es-VE"/>
              <a:t>completa necesito una consulta adicional</a:t>
            </a:r>
            <a:r>
              <a:t>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Me ayudaría a identificar el mayor tiempo pendiente dentro </a:t>
            </a:r>
            <a:r>
              <a:t>de </a:t>
            </a:r>
            <a:r>
              <a:rPr lang="es-VE"/>
              <a:t>un reporte </a:t>
            </a:r>
            <a:r>
              <a:t>de </a:t>
            </a:r>
            <a:r>
              <a:rPr lang="es-VE"/>
              <a:t>seguimiento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16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r>
              <a:rPr lang="es-VE"/>
              <a:t>Las aplicaciones describen posibilidades vinculadas a tareas generales de revisión y seguimiento. No incluyen información interna ni afirman un uso actual de estas consultas en el trabajo.</a:t>
            </a:r>
          </a:p>
          <a:p>
            <a:r>
              <a:rPr lang="es-VE"/>
              <a:t>Evidencia visual: recortes originales del editor y del panel de ejecución con confirmación «coincide con lo esperado», pestañas y resultado. Solo se omite espacio vacío del editor. No se alteran la consulta, la confirmación ni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/>
              <a:t>Ejercicio </a:t>
            </a:r>
            <a:r>
              <a:t>17: Agregación por categoría</a:t>
            </a:r>
          </a:p>
          <a:p>
            <a:r>
              <a:t>Objetivo: </a:t>
            </a:r>
            <a:r>
              <a:rPr lang="es-VE"/>
              <a:t>Agrupé los registros por especie y calculé su </a:t>
            </a:r>
            <a:r>
              <a:t>altura máxima.</a:t>
            </a:r>
          </a:p>
          <a:p>
            <a:r>
              <a:t>Concepto SQL: GROUP BY y MAX()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MAX(height_cm), species FROM friends_of_pickles</a:t>
            </a:r>
          </a:p>
          <a:p>
            <a:r>
              <a:t>GROUP BY species;</a:t>
            </a:r>
          </a:p>
          <a:p>
            <a:r>
              <a:rPr lang="es-VE"/>
              <a:t>Lo que obtuve</a:t>
            </a:r>
            <a:r>
              <a:t>: </a:t>
            </a:r>
            <a:r>
              <a:rPr lang="es-VE"/>
              <a:t>Obtuve </a:t>
            </a:r>
            <a:r>
              <a:t>30 cm</a:t>
            </a:r>
            <a:r>
              <a:rPr lang="es-VE"/>
              <a:t> para cat</a:t>
            </a:r>
            <a:r>
              <a:t>, 55 cm </a:t>
            </a:r>
            <a:r>
              <a:rPr lang="es-VE"/>
              <a:t>para dog </a:t>
            </a:r>
            <a:r>
              <a:t>y 180 cm</a:t>
            </a:r>
            <a:r>
              <a:rPr lang="es-VE"/>
              <a:t> para human</a:t>
            </a:r>
            <a:r>
              <a:t>.</a:t>
            </a:r>
          </a:p>
          <a:p>
            <a:r>
              <a:rPr lang="es-VE"/>
              <a:t>Lo que aprendí</a:t>
            </a:r>
            <a:r>
              <a:t>: </a:t>
            </a:r>
            <a:r>
              <a:rPr lang="es-VE"/>
              <a:t>Cada </a:t>
            </a:r>
            <a:r>
              <a:t>grupo</a:t>
            </a:r>
            <a:r>
              <a:rPr lang="es-VE"/>
              <a:t> tiene su propio resultado, aunque use la misma función</a:t>
            </a:r>
            <a:r>
              <a:t>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Lo usaría para comparar la mayor antigüedad </a:t>
            </a:r>
            <a:r>
              <a:t>de </a:t>
            </a:r>
            <a:r>
              <a:rPr lang="es-VE"/>
              <a:t>los pendientes </a:t>
            </a:r>
            <a:r>
              <a:t>por categoría.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17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endParaRPr/>
          </a:p>
          <a:p>
            <a:r>
              <a:rPr lang="es-VE"/>
              <a:t>Ejercicio </a:t>
            </a:r>
            <a:r>
              <a:t>18: Subconsulta de valor único</a:t>
            </a:r>
          </a:p>
          <a:p>
            <a:r>
              <a:t>Objetivo: </a:t>
            </a:r>
            <a:r>
              <a:rPr lang="es-VE"/>
              <a:t>Busqué </a:t>
            </a:r>
            <a:r>
              <a:t>la fila </a:t>
            </a:r>
            <a:r>
              <a:rPr lang="es-VE"/>
              <a:t>que tenía </a:t>
            </a:r>
            <a:r>
              <a:t>el máximo número de libros leídos.</a:t>
            </a:r>
          </a:p>
          <a:p>
            <a:r>
              <a:t>Concepto SQL: Subconsulta escalar con MAX()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* FROM family_members WHERE num_books_read =</a:t>
            </a:r>
          </a:p>
          <a:p>
            <a:r>
              <a:t>(SELECT MAX(num_books_read) FROM family_members);</a:t>
            </a:r>
          </a:p>
          <a:p>
            <a:r>
              <a:rPr lang="es-VE"/>
              <a:t>Lo que obtuve</a:t>
            </a:r>
            <a:r>
              <a:t>: La </a:t>
            </a:r>
            <a:r>
              <a:rPr lang="es-VE"/>
              <a:t>consulta interna calculó </a:t>
            </a:r>
            <a:r>
              <a:t>200 y la consulta externa </a:t>
            </a:r>
            <a:r>
              <a:rPr lang="es-VE"/>
              <a:t>devolvió </a:t>
            </a:r>
            <a:r>
              <a:t>a Dave.</a:t>
            </a:r>
          </a:p>
          <a:p>
            <a:r>
              <a:rPr lang="es-VE"/>
              <a:t>Lo que aprendí</a:t>
            </a:r>
            <a:r>
              <a:t>: </a:t>
            </a:r>
            <a:r>
              <a:rPr lang="es-VE"/>
              <a:t>La subconsulta </a:t>
            </a:r>
            <a:r>
              <a:t>evita fijar </a:t>
            </a:r>
            <a:r>
              <a:rPr lang="es-VE"/>
              <a:t>el máximo a mano </a:t>
            </a:r>
            <a:r>
              <a:t>y </a:t>
            </a:r>
            <a:r>
              <a:rPr lang="es-VE"/>
              <a:t>también puede devolver </a:t>
            </a:r>
            <a:r>
              <a:t>empates.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Me serviría para recuperar </a:t>
            </a:r>
            <a:r>
              <a:t>el </a:t>
            </a:r>
            <a:r>
              <a:rPr lang="es-VE"/>
              <a:t>detalle del caso más antiguo </a:t>
            </a:r>
            <a:r>
              <a:t>de </a:t>
            </a:r>
            <a:r>
              <a:rPr lang="es-VE"/>
              <a:t>un reporte actualizado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18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r>
              <a:rPr lang="es-VE"/>
              <a:t>Las aplicaciones describen posibilidades vinculadas a tareas generales de revisión y seguimiento. No incluyen información interna ni afirman un uso actual de estas consultas en el trabajo.</a:t>
            </a:r>
          </a:p>
          <a:p>
            <a:r>
              <a:rPr lang="es-VE"/>
              <a:t>Evidencia visual: recortes originales del editor y del panel de ejecución con confirmación «coincide con lo esperado», pestañas y resultado. Solo se omite espacio vacío del editor. No se alteran la consulta, la confirmación ni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/>
              <a:t>Ejercicio </a:t>
            </a:r>
            <a:r>
              <a:t>19: Tratamiento de datos nulos</a:t>
            </a:r>
          </a:p>
          <a:p>
            <a:r>
              <a:t>Objetivo: </a:t>
            </a:r>
            <a:r>
              <a:rPr lang="es-VE"/>
              <a:t>Filtré a los </a:t>
            </a:r>
            <a:r>
              <a:t>miembros que </a:t>
            </a:r>
            <a:r>
              <a:rPr lang="es-VE"/>
              <a:t>tenían </a:t>
            </a:r>
            <a:r>
              <a:t>un libro favorito </a:t>
            </a:r>
            <a:r>
              <a:rPr lang="es-VE"/>
              <a:t>registrado</a:t>
            </a:r>
            <a:r>
              <a:t>.</a:t>
            </a:r>
          </a:p>
          <a:p>
            <a:r>
              <a:t>Concepto SQL: IS NOT NULL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* FROM family_members</a:t>
            </a:r>
          </a:p>
          <a:p>
            <a:r>
              <a:t>WHERE favorite_book IS NOT NULL;</a:t>
            </a:r>
          </a:p>
          <a:p>
            <a:r>
              <a:rPr lang="es-VE"/>
              <a:t>Lo que obtuve</a:t>
            </a:r>
            <a:r>
              <a:t>: </a:t>
            </a:r>
            <a:r>
              <a:rPr lang="es-VE"/>
              <a:t>Aparecieron </a:t>
            </a:r>
            <a:r>
              <a:t>Dave y Mary. Pickles </a:t>
            </a:r>
            <a:r>
              <a:rPr lang="es-VE"/>
              <a:t>quedó fuera porque ese </a:t>
            </a:r>
            <a:r>
              <a:t>dato</a:t>
            </a:r>
            <a:r>
              <a:rPr lang="es-VE"/>
              <a:t> estaba vacío</a:t>
            </a:r>
            <a:r>
              <a:t>.</a:t>
            </a:r>
          </a:p>
          <a:p>
            <a:r>
              <a:rPr lang="es-VE"/>
              <a:t>Lo que aprendí</a:t>
            </a:r>
            <a:r>
              <a:t>: </a:t>
            </a:r>
            <a:r>
              <a:rPr lang="es-VE"/>
              <a:t>Para comprobar datos ausentes necesito IS </a:t>
            </a:r>
            <a:r>
              <a:t>NULL </a:t>
            </a:r>
            <a:r>
              <a:rPr lang="es-VE"/>
              <a:t>o IS NOT NULL</a:t>
            </a:r>
            <a:r>
              <a:t>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Lo aplicaría al revisar si un registro tiene responsable o evidencia </a:t>
            </a:r>
            <a:r>
              <a:t>de </a:t>
            </a:r>
            <a:r>
              <a:rPr lang="es-VE"/>
              <a:t>cierre informada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19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endParaRPr/>
          </a:p>
          <a:p>
            <a:r>
              <a:rPr lang="es-VE"/>
              <a:t>Ejercicio </a:t>
            </a:r>
            <a:r>
              <a:t>20: Comparación de fechas</a:t>
            </a:r>
          </a:p>
          <a:p>
            <a:r>
              <a:t>Objetivo: </a:t>
            </a:r>
            <a:r>
              <a:rPr lang="es-VE"/>
              <a:t>Busqué </a:t>
            </a:r>
            <a:r>
              <a:t>celebridades nacidas después del 1 de septiembre de 1980.</a:t>
            </a:r>
          </a:p>
          <a:p>
            <a:r>
              <a:t>Concepto SQL: WHERE sobre birthdate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* FROM celebs_born WHERE birthdate &gt; '1980-09-1';</a:t>
            </a:r>
          </a:p>
          <a:p>
            <a:r>
              <a:rPr lang="es-VE"/>
              <a:t>Lo que obtuve</a:t>
            </a:r>
            <a:r>
              <a:t>: </a:t>
            </a:r>
            <a:r>
              <a:rPr lang="es-VE"/>
              <a:t>Obtuve </a:t>
            </a:r>
            <a:r>
              <a:t>a Justin Timberlake y Taylor Swift.</a:t>
            </a:r>
          </a:p>
          <a:p>
            <a:r>
              <a:rPr lang="es-VE"/>
              <a:t>Lo que aprendí</a:t>
            </a:r>
            <a:r>
              <a:t>: </a:t>
            </a:r>
            <a:r>
              <a:rPr lang="es-VE"/>
              <a:t>Mi </a:t>
            </a:r>
            <a:r>
              <a:t>consulta </a:t>
            </a:r>
            <a:r>
              <a:rPr lang="es-VE"/>
              <a:t>funcionó, pero conviene escribir la fecha completa como </a:t>
            </a:r>
            <a:r>
              <a:t>1980-09-01.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Me ayudaría a delimitar el periodo </a:t>
            </a:r>
            <a:r>
              <a:t>de </a:t>
            </a:r>
            <a:r>
              <a:rPr lang="es-VE"/>
              <a:t>un reporte o el avance </a:t>
            </a:r>
            <a:r>
              <a:t>de </a:t>
            </a:r>
            <a:r>
              <a:rPr lang="es-VE"/>
              <a:t>una capacitación</a:t>
            </a:r>
            <a:r>
              <a:t>.</a:t>
            </a:r>
          </a:p>
          <a:p>
            <a:r>
              <a:t>Se conserva el literal ejecutado '1980-09-1'. La documentación recomienda formato ISO completo YYYY-MM-DD para evitar diferencias entre motores y almacenamiento textual.</a:t>
            </a:r>
          </a:p>
          <a:p>
            <a:r>
              <a:rPr lang="es-VE"/>
              <a:t>Fuente: captura original </a:t>
            </a:r>
            <a:r>
              <a:t>20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r>
              <a:rPr lang="es-VE"/>
              <a:t>Las aplicaciones describen posibilidades vinculadas a tareas generales de revisión y seguimiento. No incluyen información interna ni afirman un uso actual de estas consultas en el trabajo.</a:t>
            </a:r>
          </a:p>
          <a:p>
            <a:r>
              <a:rPr lang="es-VE"/>
              <a:t>Evidencia visual: recortes originales del editor y del panel de ejecución con confirmación «coincide con lo esperado», pestañas y resultado. Solo se omite espacio vacío del editor. No se alteran la consulta, la confirmación ni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/>
              <a:t>Ejercicio </a:t>
            </a:r>
            <a:r>
              <a:t>21: Cruce entre dos tablas</a:t>
            </a:r>
          </a:p>
          <a:p>
            <a:r>
              <a:t>Objetivo: </a:t>
            </a:r>
            <a:r>
              <a:rPr lang="es-VE"/>
              <a:t>Relacioné los personajes </a:t>
            </a:r>
            <a:r>
              <a:t>con </a:t>
            </a:r>
            <a:r>
              <a:rPr lang="es-VE"/>
              <a:t>los datos </a:t>
            </a:r>
            <a:r>
              <a:t>de </a:t>
            </a:r>
            <a:r>
              <a:rPr lang="es-VE"/>
              <a:t>sus actores</a:t>
            </a:r>
            <a:r>
              <a:t>.</a:t>
            </a:r>
          </a:p>
          <a:p>
            <a:r>
              <a:t>Concepto SQL: INNER JOIN y claves ON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character.name, character_actor.actor_name</a:t>
            </a:r>
          </a:p>
          <a:p>
            <a:r>
              <a:t>FROM character INNER JOIN character_actor</a:t>
            </a:r>
          </a:p>
          <a:p>
            <a:r>
              <a:t>ON character.id = character_actor.character_id;</a:t>
            </a:r>
          </a:p>
          <a:p>
            <a:r>
              <a:rPr lang="es-VE"/>
              <a:t>Lo que obtuve</a:t>
            </a:r>
            <a:r>
              <a:t>: La salida </a:t>
            </a:r>
            <a:r>
              <a:rPr lang="es-VE"/>
              <a:t>mostró </a:t>
            </a:r>
            <a:r>
              <a:t>los personajes </a:t>
            </a:r>
            <a:r>
              <a:rPr lang="es-VE"/>
              <a:t>que tenían una coincidencia </a:t>
            </a:r>
            <a:r>
              <a:t>en character_actor.</a:t>
            </a:r>
          </a:p>
          <a:p>
            <a:r>
              <a:rPr lang="es-VE"/>
              <a:t>Lo que aprendí</a:t>
            </a:r>
            <a:r>
              <a:t>: INNER JOIN </a:t>
            </a:r>
            <a:r>
              <a:rPr lang="es-VE"/>
              <a:t>conserva las </a:t>
            </a:r>
            <a:r>
              <a:t>coincidencias</a:t>
            </a:r>
            <a:r>
              <a:rPr lang="es-VE"/>
              <a:t>. Debo revisar si una relación genera varias</a:t>
            </a:r>
            <a:r>
              <a:t> filas.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Lo usaría para vincular un hallazgo </a:t>
            </a:r>
            <a:r>
              <a:t>con </a:t>
            </a:r>
            <a:r>
              <a:rPr lang="es-VE"/>
              <a:t>el registro del equipo al que corresponde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21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endParaRPr/>
          </a:p>
          <a:p>
            <a:r>
              <a:rPr lang="es-VE"/>
              <a:t>Ejercicio </a:t>
            </a:r>
            <a:r>
              <a:t>22: Composición de varios cruces</a:t>
            </a:r>
          </a:p>
          <a:p>
            <a:r>
              <a:t>Objetivo: </a:t>
            </a:r>
            <a:r>
              <a:rPr lang="es-VE"/>
              <a:t>Conecté </a:t>
            </a:r>
            <a:r>
              <a:t>personajes y actores </a:t>
            </a:r>
            <a:r>
              <a:rPr lang="es-VE"/>
              <a:t>mediante una tabla intermedia</a:t>
            </a:r>
            <a:r>
              <a:t>.</a:t>
            </a:r>
          </a:p>
          <a:p>
            <a:r>
              <a:t>Concepto SQL: INNER JOIN con tabla intermedia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character.name, actor.name FROM character</a:t>
            </a:r>
          </a:p>
          <a:p>
            <a:r>
              <a:t>INNER JOIN character_actor ON character.id = character_actor.character_id</a:t>
            </a:r>
          </a:p>
          <a:p>
            <a:r>
              <a:t>INNER JOIN actor ON character_actor.actor_id = actor.id;</a:t>
            </a:r>
          </a:p>
          <a:p>
            <a:r>
              <a:rPr lang="es-VE"/>
              <a:t>Lo que obtuve</a:t>
            </a:r>
            <a:r>
              <a:t>: </a:t>
            </a:r>
            <a:r>
              <a:rPr lang="es-VE"/>
              <a:t>Obtuve </a:t>
            </a:r>
            <a:r>
              <a:t>los nombres de actor</a:t>
            </a:r>
            <a:r>
              <a:rPr lang="es-VE"/>
              <a:t> a partir de las relaciones entre las tres tablas</a:t>
            </a:r>
            <a:r>
              <a:t>.</a:t>
            </a:r>
          </a:p>
          <a:p>
            <a:r>
              <a:rPr lang="es-VE"/>
              <a:t>Lo que aprendí</a:t>
            </a:r>
            <a:r>
              <a:t>: </a:t>
            </a:r>
            <a:r>
              <a:rPr lang="es-VE"/>
              <a:t>Cada cruce necesita una clave correcta para no mezclar registros</a:t>
            </a:r>
            <a:r>
              <a:t>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Me serviría para relacionar inventario</a:t>
            </a:r>
            <a:r>
              <a:t>, </a:t>
            </a:r>
            <a:r>
              <a:rPr lang="es-VE"/>
              <a:t>detecciones </a:t>
            </a:r>
            <a:r>
              <a:t>y </a:t>
            </a:r>
            <a:r>
              <a:rPr lang="es-VE"/>
              <a:t>aprobaciones antes </a:t>
            </a:r>
            <a:r>
              <a:t>de </a:t>
            </a:r>
            <a:r>
              <a:rPr lang="es-VE"/>
              <a:t>una revisión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22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r>
              <a:rPr lang="es-VE"/>
              <a:t>Las aplicaciones describen posibilidades vinculadas a tareas generales de revisión y seguimiento. No incluyen información interna ni afirman un uso actual de estas consultas en el trabajo.</a:t>
            </a:r>
          </a:p>
          <a:p>
            <a:r>
              <a:rPr lang="es-VE"/>
              <a:t>Evidencia visual: recortes originales del editor y del panel de ejecución con confirmación «coincide con lo esperado», pestañas y resultado. Solo se omite espacio vacío del editor. No se alteran la consulta, la confirmación ni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/>
              <a:t>Ejercicio </a:t>
            </a:r>
            <a:r>
              <a:t>23: Cruces con filtros de exclusión</a:t>
            </a:r>
          </a:p>
          <a:p>
            <a:r>
              <a:t>Objetivo: </a:t>
            </a:r>
            <a:r>
              <a:rPr lang="es-VE"/>
              <a:t>Excluí </a:t>
            </a:r>
            <a:r>
              <a:t>a Willow Rosenberg y el programa How I Met Your Mother.</a:t>
            </a:r>
          </a:p>
          <a:p>
            <a:r>
              <a:t>Concepto SQL: INNER JOIN, WHERE y &lt;&gt;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character.name, tv_show.name FROM character</a:t>
            </a:r>
          </a:p>
          <a:p>
            <a:r>
              <a:t>INNER JOIN character_tv_show ON character.id = character_tv_show.character_id</a:t>
            </a:r>
          </a:p>
          <a:p>
            <a:r>
              <a:t>INNER JOIN tv_show ON character_tv_show.tv_show_id = tv_show.id</a:t>
            </a:r>
          </a:p>
          <a:p>
            <a:r>
              <a:t>WHERE character.name &lt;&gt; 'Willow Rosenberg'</a:t>
            </a:r>
          </a:p>
          <a:p>
            <a:r>
              <a:t>AND tv_show.name &lt;&gt; 'How I Met Your Mother';</a:t>
            </a:r>
          </a:p>
          <a:p>
            <a:r>
              <a:rPr lang="es-VE"/>
              <a:t>Lo que obtuve</a:t>
            </a:r>
            <a:r>
              <a:t>: </a:t>
            </a:r>
            <a:r>
              <a:rPr lang="es-VE"/>
              <a:t>En el </a:t>
            </a:r>
            <a:r>
              <a:t>resultado </a:t>
            </a:r>
            <a:r>
              <a:rPr lang="es-VE"/>
              <a:t>apareció </a:t>
            </a:r>
            <a:r>
              <a:t>Doogie Howser </a:t>
            </a:r>
            <a:r>
              <a:rPr lang="es-VE"/>
              <a:t>con </a:t>
            </a:r>
            <a:r>
              <a:t>su programa asociado.</a:t>
            </a:r>
          </a:p>
          <a:p>
            <a:r>
              <a:rPr lang="es-VE"/>
              <a:t>Lo que aprendí</a:t>
            </a:r>
            <a:r>
              <a:t>: </a:t>
            </a:r>
            <a:r>
              <a:rPr lang="es-VE"/>
              <a:t>Puedo filtrar </a:t>
            </a:r>
            <a:r>
              <a:t>después de </a:t>
            </a:r>
            <a:r>
              <a:rPr lang="es-VE"/>
              <a:t>relacionar tablas, siempre que mantenga claro el alcance</a:t>
            </a:r>
            <a:r>
              <a:t>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Lo aplicaría para separar registros fuera del periodo o </a:t>
            </a:r>
            <a:r>
              <a:t>alcance de </a:t>
            </a:r>
            <a:r>
              <a:rPr lang="es-VE"/>
              <a:t>una revisión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23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endParaRPr/>
          </a:p>
          <a:p>
            <a:r>
              <a:rPr lang="es-VE"/>
              <a:t>Ejercicio </a:t>
            </a:r>
            <a:r>
              <a:t>24: Conservación del conjunto izquierdo</a:t>
            </a:r>
          </a:p>
          <a:p>
            <a:r>
              <a:t>Objetivo: </a:t>
            </a:r>
            <a:r>
              <a:rPr lang="es-VE"/>
              <a:t>Quise conservar </a:t>
            </a:r>
            <a:r>
              <a:t>todos los personajes, </a:t>
            </a:r>
            <a:r>
              <a:rPr lang="es-VE"/>
              <a:t>aunque no tuvieran </a:t>
            </a:r>
            <a:r>
              <a:t>actor asociado.</a:t>
            </a:r>
          </a:p>
          <a:p>
            <a:r>
              <a:t>Concepto SQL: LEFT JOIN encadenados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character.name, actor.name FROM character</a:t>
            </a:r>
          </a:p>
          <a:p>
            <a:r>
              <a:t>LEFT JOIN character_actor ON character.id = character_actor.character_id</a:t>
            </a:r>
          </a:p>
          <a:p>
            <a:r>
              <a:t>LEFT JOIN actor ON character_actor.actor_id = actor.id;</a:t>
            </a:r>
          </a:p>
          <a:p>
            <a:r>
              <a:rPr lang="es-VE"/>
              <a:t>Lo que obtuve</a:t>
            </a:r>
            <a:r>
              <a:t>: Steve Urkel </a:t>
            </a:r>
            <a:r>
              <a:rPr lang="es-VE"/>
              <a:t>apareció </a:t>
            </a:r>
            <a:r>
              <a:t>con NULL en </a:t>
            </a:r>
            <a:r>
              <a:rPr lang="es-VE"/>
              <a:t>el campo </a:t>
            </a:r>
            <a:r>
              <a:t>del actor.</a:t>
            </a:r>
          </a:p>
          <a:p>
            <a:r>
              <a:rPr lang="es-VE"/>
              <a:t>Lo que aprendí</a:t>
            </a:r>
            <a:r>
              <a:t>: LEFT JOIN </a:t>
            </a:r>
            <a:r>
              <a:rPr lang="es-VE"/>
              <a:t>me permite ver también </a:t>
            </a:r>
            <a:r>
              <a:t>las </a:t>
            </a:r>
            <a:r>
              <a:rPr lang="es-VE"/>
              <a:t>relaciones que faltan</a:t>
            </a:r>
            <a:r>
              <a:t>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Me ayudaría a encontrar detecciones que todavía no tengan una aprobación asociada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24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r>
              <a:rPr lang="es-VE"/>
              <a:t>Las aplicaciones describen posibilidades vinculadas a tareas generales de revisión y seguimiento. No incluyen información interna ni afirman un uso actual de estas consultas en el trabajo.</a:t>
            </a:r>
          </a:p>
          <a:p>
            <a:r>
              <a:rPr lang="es-VE"/>
              <a:t>Evidencia visual: recortes originales del editor y del panel de ejecución con confirmación «coincide con lo esperado», pestañas y resultado. Solo se omite espacio vacío del editor. No se alteran la consulta, la confirmación ni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/>
              <a:t>Ejercicio </a:t>
            </a:r>
            <a:r>
              <a:t>25: Alias de tablas</a:t>
            </a:r>
          </a:p>
          <a:p>
            <a:r>
              <a:t>Objetivo: </a:t>
            </a:r>
            <a:r>
              <a:rPr lang="es-VE"/>
              <a:t>Usé </a:t>
            </a:r>
            <a:r>
              <a:t>c, ca y a</a:t>
            </a:r>
            <a:r>
              <a:rPr lang="es-VE"/>
              <a:t> para escribir la consulta de forma más corta</a:t>
            </a:r>
            <a:r>
              <a:t>.</a:t>
            </a:r>
          </a:p>
          <a:p>
            <a:r>
              <a:t>Concepto SQL: AS para tablas en LEFT JOIN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c.name, a.name FROM character AS c</a:t>
            </a:r>
          </a:p>
          <a:p>
            <a:r>
              <a:t>LEFT JOIN character_actor AS ca ON c.id = ca.character_id</a:t>
            </a:r>
          </a:p>
          <a:p>
            <a:r>
              <a:t>LEFT JOIN actor AS a ON ca.actor_id = a.id;</a:t>
            </a:r>
          </a:p>
          <a:p>
            <a:r>
              <a:rPr lang="es-VE"/>
              <a:t>Lo que obtuve</a:t>
            </a:r>
            <a:r>
              <a:t>: </a:t>
            </a:r>
            <a:r>
              <a:rPr lang="es-VE"/>
              <a:t>Mantuve el resultado </a:t>
            </a:r>
            <a:r>
              <a:t>del ejercicio anterior</a:t>
            </a:r>
            <a:r>
              <a:rPr lang="es-VE"/>
              <a:t>, incluido</a:t>
            </a:r>
            <a:r>
              <a:t> el actor </a:t>
            </a:r>
            <a:r>
              <a:rPr lang="es-VE"/>
              <a:t>que faltaba</a:t>
            </a:r>
            <a:r>
              <a:t>.</a:t>
            </a:r>
          </a:p>
          <a:p>
            <a:r>
              <a:rPr lang="es-VE"/>
              <a:t>Lo que aprendí</a:t>
            </a:r>
            <a:r>
              <a:t>: Los alias </a:t>
            </a:r>
            <a:r>
              <a:rPr lang="es-VE"/>
              <a:t>facilitan la lectura sin cambiar la lógica </a:t>
            </a:r>
            <a:r>
              <a:t>de </a:t>
            </a:r>
            <a:r>
              <a:rPr lang="es-VE"/>
              <a:t>los cruces</a:t>
            </a:r>
            <a:r>
              <a:t>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Lo usaría para que mis </a:t>
            </a:r>
            <a:r>
              <a:t>consultas de </a:t>
            </a:r>
            <a:r>
              <a:rPr lang="es-VE"/>
              <a:t>apoyo sean más fáciles de revisar y mantener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25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endParaRPr/>
          </a:p>
          <a:p>
            <a:r>
              <a:rPr lang="es-VE"/>
              <a:t>Ejercicio </a:t>
            </a:r>
            <a:r>
              <a:t>26: Alias de columnas</a:t>
            </a:r>
          </a:p>
          <a:p>
            <a:r>
              <a:t>Objetivo: </a:t>
            </a:r>
            <a:r>
              <a:rPr lang="es-VE"/>
              <a:t>Cambié </a:t>
            </a:r>
            <a:r>
              <a:t>los encabezados </a:t>
            </a:r>
            <a:r>
              <a:rPr lang="es-VE"/>
              <a:t>para distinguir personaje </a:t>
            </a:r>
            <a:r>
              <a:t>y actor.</a:t>
            </a:r>
          </a:p>
          <a:p>
            <a:r>
              <a:t>Concepto SQL: AS para etiquetas de salida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c.name AS character, a.name AS actor FROM character AS c</a:t>
            </a:r>
          </a:p>
          <a:p>
            <a:r>
              <a:t>LEFT JOIN character_actor AS ca ON c.id = ca.character_id</a:t>
            </a:r>
          </a:p>
          <a:p>
            <a:r>
              <a:t>LEFT JOIN actor AS a ON ca.actor_id = a.id;</a:t>
            </a:r>
          </a:p>
          <a:p>
            <a:r>
              <a:rPr lang="es-VE"/>
              <a:t>Lo que obtuve</a:t>
            </a:r>
            <a:r>
              <a:t>: </a:t>
            </a:r>
            <a:r>
              <a:rPr lang="es-VE"/>
              <a:t>La salida mostró character y actor en lugar de dos columnas llamadas name</a:t>
            </a:r>
            <a:r>
              <a:t>.</a:t>
            </a:r>
          </a:p>
          <a:p>
            <a:r>
              <a:rPr lang="es-VE"/>
              <a:t>Lo que aprendí</a:t>
            </a:r>
            <a:r>
              <a:t>: Los </a:t>
            </a:r>
            <a:r>
              <a:rPr lang="es-VE"/>
              <a:t>nombres </a:t>
            </a:r>
            <a:r>
              <a:t>de salida </a:t>
            </a:r>
            <a:r>
              <a:rPr lang="es-VE"/>
              <a:t>pueden ser más claros sin modificar la tabla original</a:t>
            </a:r>
            <a:r>
              <a:t>.</a:t>
            </a:r>
          </a:p>
          <a:p>
            <a:r>
              <a:t>Aplicación </a:t>
            </a:r>
            <a:r>
              <a:rPr lang="es-VE"/>
              <a:t>posible </a:t>
            </a:r>
            <a:r>
              <a:t>en </a:t>
            </a:r>
            <a:r>
              <a:rPr lang="es-VE"/>
              <a:t>mi trabajo: Me serviría al preparar tablas claras para reportes, presentaciones o comunicados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26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r>
              <a:rPr lang="es-VE"/>
              <a:t>Las aplicaciones describen posibilidades vinculadas a tareas generales de revisión y seguimiento. No incluyen información interna ni afirman un uso actual de estas consultas en el trabajo.</a:t>
            </a:r>
          </a:p>
          <a:p>
            <a:r>
              <a:rPr lang="es-VE"/>
              <a:t>Evidencia visual: recortes originales del editor y del panel de ejecución con confirmación «coincide con lo esperado», pestañas y resultado. Solo se omite espacio vacío del editor. No se alteran la consulta, la confirmación ni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/>
              <a:t>Ejercicio </a:t>
            </a:r>
            <a:r>
              <a:t>27: Relación dentro de la misma tabla</a:t>
            </a:r>
          </a:p>
          <a:p>
            <a:r>
              <a:t>Objetivo: </a:t>
            </a:r>
            <a:r>
              <a:rPr lang="es-VE"/>
              <a:t>Relacioné a </a:t>
            </a:r>
            <a:r>
              <a:t>cada empleado con su jefe</a:t>
            </a:r>
            <a:r>
              <a:rPr lang="es-VE"/>
              <a:t> dentro de la misma tabla</a:t>
            </a:r>
            <a:r>
              <a:t>.</a:t>
            </a:r>
          </a:p>
          <a:p>
            <a:r>
              <a:t>Concepto SQL: Self join con alias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e1.name AS employee_name, e2.name AS boss_name</a:t>
            </a:r>
          </a:p>
          <a:p>
            <a:r>
              <a:t>FROM employees AS e1 INNER JOIN employees AS e2</a:t>
            </a:r>
          </a:p>
          <a:p>
            <a:r>
              <a:t>ON e1.boss_id = e2.id;</a:t>
            </a:r>
          </a:p>
          <a:p>
            <a:r>
              <a:rPr lang="es-VE"/>
              <a:t>Lo que obtuve</a:t>
            </a:r>
            <a:r>
              <a:t>: </a:t>
            </a:r>
            <a:r>
              <a:rPr lang="es-VE"/>
              <a:t>Obtuve </a:t>
            </a:r>
            <a:r>
              <a:t>tres relaciones. El </a:t>
            </a:r>
            <a:r>
              <a:rPr lang="es-VE"/>
              <a:t>registro sin </a:t>
            </a:r>
            <a:r>
              <a:t>jefe no </a:t>
            </a:r>
            <a:r>
              <a:rPr lang="es-VE"/>
              <a:t>apareció </a:t>
            </a:r>
            <a:r>
              <a:t>en el </a:t>
            </a:r>
            <a:r>
              <a:rPr lang="es-VE"/>
              <a:t>INNER JOIN</a:t>
            </a:r>
            <a:r>
              <a:t>.</a:t>
            </a:r>
          </a:p>
          <a:p>
            <a:r>
              <a:rPr lang="es-VE"/>
              <a:t>Lo que aprendí</a:t>
            </a:r>
            <a:r>
              <a:t>: Los alias permiten </a:t>
            </a:r>
            <a:r>
              <a:rPr lang="es-VE"/>
              <a:t>representar </a:t>
            </a:r>
            <a:r>
              <a:t>dos roles distintos</a:t>
            </a:r>
            <a:r>
              <a:rPr lang="es-VE"/>
              <a:t> de una misma tabla</a:t>
            </a:r>
            <a:r>
              <a:t>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Lo aplicaría para relacionar responsables </a:t>
            </a:r>
            <a:r>
              <a:t>y </a:t>
            </a:r>
            <a:r>
              <a:rPr lang="es-VE"/>
              <a:t>aprobadores en un registro </a:t>
            </a:r>
            <a:r>
              <a:t>de </a:t>
            </a:r>
            <a:r>
              <a:rPr lang="es-VE"/>
              <a:t>seguimiento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27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endParaRPr/>
          </a:p>
          <a:p>
            <a:r>
              <a:rPr lang="es-VE"/>
              <a:t>Ejercicio </a:t>
            </a:r>
            <a:r>
              <a:t>28: Búsqueda de patrones de texto</a:t>
            </a:r>
          </a:p>
          <a:p>
            <a:r>
              <a:t>Objetivo: </a:t>
            </a:r>
            <a:r>
              <a:rPr lang="es-VE"/>
              <a:t>Busqué </a:t>
            </a:r>
            <a:r>
              <a:t>nombres </a:t>
            </a:r>
            <a:r>
              <a:rPr lang="es-VE"/>
              <a:t>de robots </a:t>
            </a:r>
            <a:r>
              <a:t>que </a:t>
            </a:r>
            <a:r>
              <a:rPr lang="es-VE"/>
              <a:t>incluyeran </a:t>
            </a:r>
            <a:r>
              <a:t>la secuencia Robot 20.</a:t>
            </a:r>
          </a:p>
          <a:p>
            <a:r>
              <a:t>Concepto SQL: LIKE y comodín %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* FROM robots WHERE name LIKE '%Robot 20%';</a:t>
            </a:r>
          </a:p>
          <a:p>
            <a:r>
              <a:rPr lang="es-VE"/>
              <a:t>Lo que obtuve</a:t>
            </a:r>
            <a:r>
              <a:t>: La </a:t>
            </a:r>
            <a:r>
              <a:rPr lang="es-VE"/>
              <a:t>captura mostró registros que coincidían </a:t>
            </a:r>
            <a:r>
              <a:t>con </a:t>
            </a:r>
            <a:r>
              <a:rPr lang="es-VE"/>
              <a:t>ese fragmento del nombre</a:t>
            </a:r>
            <a:r>
              <a:t>.</a:t>
            </a:r>
          </a:p>
          <a:p>
            <a:r>
              <a:rPr lang="es-VE"/>
              <a:t>Lo que aprendí</a:t>
            </a:r>
            <a:r>
              <a:t>: </a:t>
            </a:r>
            <a:r>
              <a:rPr lang="es-VE"/>
              <a:t>LIKE permite buscar patrones. El símbolo </a:t>
            </a:r>
            <a:r>
              <a:t>% </a:t>
            </a:r>
            <a:r>
              <a:rPr lang="es-VE"/>
              <a:t>cubre </a:t>
            </a:r>
            <a:r>
              <a:t>caracteres </a:t>
            </a:r>
            <a:r>
              <a:rPr lang="es-VE"/>
              <a:t>adicionales</a:t>
            </a:r>
            <a:r>
              <a:t>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Me ayudaría a localizar variantes </a:t>
            </a:r>
            <a:r>
              <a:t>de </a:t>
            </a:r>
            <a:r>
              <a:rPr lang="es-VE"/>
              <a:t>un software sin conocer el </a:t>
            </a:r>
            <a:r>
              <a:t>nombre</a:t>
            </a:r>
            <a:r>
              <a:rPr lang="es-VE"/>
              <a:t> completo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28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r>
              <a:rPr lang="es-VE"/>
              <a:t>Las aplicaciones describen posibilidades vinculadas a tareas generales de revisión y seguimiento. No incluyen información interna ni afirman un uso actual de estas consultas en el trabajo.</a:t>
            </a:r>
          </a:p>
          <a:p>
            <a:r>
              <a:rPr lang="es-VE"/>
              <a:t>Evidencia visual: recortes originales del editor y del panel de ejecución con confirmación «coincide con lo esperado», pestañas y resultado. Solo se omite espacio vacío del editor. No se alteran la consulta, la confirmación ni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/>
              <a:t>Ejercicio </a:t>
            </a:r>
            <a:r>
              <a:t>29: Clasificación condicional</a:t>
            </a:r>
          </a:p>
          <a:p>
            <a:r>
              <a:t>Objetivo: </a:t>
            </a:r>
            <a:r>
              <a:rPr lang="es-VE"/>
              <a:t>Asigné un </a:t>
            </a:r>
            <a:r>
              <a:t>sonido </a:t>
            </a:r>
            <a:r>
              <a:rPr lang="es-VE"/>
              <a:t>a </a:t>
            </a:r>
            <a:r>
              <a:t>cada registro</a:t>
            </a:r>
            <a:r>
              <a:rPr lang="es-VE"/>
              <a:t> según su especie</a:t>
            </a:r>
            <a:r>
              <a:t>.</a:t>
            </a:r>
          </a:p>
          <a:p>
            <a:r>
              <a:t>Concepto SQL: CASE WHEN, THEN y END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*, CASE WHEN species = 'human' THEN 'talk'</a:t>
            </a:r>
          </a:p>
          <a:p>
            <a:r>
              <a:t>WHEN species = 'dog' THEN 'bark'</a:t>
            </a:r>
          </a:p>
          <a:p>
            <a:r>
              <a:t>WHEN species = 'cat' THEN 'meow' END AS sound</a:t>
            </a:r>
          </a:p>
          <a:p>
            <a:r>
              <a:t>FROM friends_of_pickles;</a:t>
            </a:r>
          </a:p>
          <a:p>
            <a:r>
              <a:rPr lang="es-VE"/>
              <a:t>Lo que obtuve</a:t>
            </a:r>
            <a:r>
              <a:t>: La </a:t>
            </a:r>
            <a:r>
              <a:rPr lang="es-VE"/>
              <a:t>nueva </a:t>
            </a:r>
            <a:r>
              <a:t>columna </a:t>
            </a:r>
            <a:r>
              <a:rPr lang="es-VE"/>
              <a:t>mostró </a:t>
            </a:r>
            <a:r>
              <a:t>talk, bark o meow según la condición.</a:t>
            </a:r>
          </a:p>
          <a:p>
            <a:r>
              <a:rPr lang="es-VE"/>
              <a:t>Lo que aprendí</a:t>
            </a:r>
            <a:r>
              <a:t>: CASE </a:t>
            </a:r>
            <a:r>
              <a:rPr lang="es-VE"/>
              <a:t>permite definir reglas</a:t>
            </a:r>
            <a:r>
              <a:t>. Sin ELSE, un caso </a:t>
            </a:r>
            <a:r>
              <a:rPr lang="es-VE"/>
              <a:t>no contemplado </a:t>
            </a:r>
            <a:r>
              <a:t>devuelve NULL.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es-VE"/>
              <a:t>Lo usaría para clasificar pendientes y explicar las </a:t>
            </a:r>
            <a:r>
              <a:t>reglas </a:t>
            </a:r>
            <a:r>
              <a:rPr lang="es-VE"/>
              <a:t>que utilicé en el reporte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29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endParaRPr/>
          </a:p>
          <a:p>
            <a:r>
              <a:rPr lang="es-VE"/>
              <a:t>Ejercicio </a:t>
            </a:r>
            <a:r>
              <a:t>30: Extracción de subcadenas</a:t>
            </a:r>
          </a:p>
          <a:p>
            <a:r>
              <a:t>Objetivo: </a:t>
            </a:r>
            <a:r>
              <a:rPr lang="es-VE"/>
              <a:t>Busqué </a:t>
            </a:r>
            <a:r>
              <a:t>robots cuya ubicación </a:t>
            </a:r>
            <a:r>
              <a:rPr lang="es-VE"/>
              <a:t>terminara en </a:t>
            </a:r>
            <a:r>
              <a:t>NY.</a:t>
            </a:r>
          </a:p>
          <a:p>
            <a:r>
              <a:t>Concepto SQL: SUBSTR() con índice negativo</a:t>
            </a:r>
          </a:p>
          <a:p>
            <a:r>
              <a:t>Consulta ejecutada</a:t>
            </a:r>
            <a:r>
              <a:rPr lang="es-VE"/>
              <a:t>, editable</a:t>
            </a:r>
            <a:r>
              <a:t>:</a:t>
            </a:r>
          </a:p>
          <a:p>
            <a:r>
              <a:t>SELECT * FROM robots WHERE SUBSTR(location, -2) = 'NY';</a:t>
            </a:r>
          </a:p>
          <a:p>
            <a:r>
              <a:rPr lang="es-VE"/>
              <a:t>Lo que obtuve</a:t>
            </a:r>
            <a:r>
              <a:t>: </a:t>
            </a:r>
            <a:r>
              <a:rPr lang="es-VE"/>
              <a:t>Obtuve registros con </a:t>
            </a:r>
            <a:r>
              <a:t>ese </a:t>
            </a:r>
            <a:r>
              <a:rPr lang="es-VE"/>
              <a:t>mismo código al final </a:t>
            </a:r>
            <a:r>
              <a:t>de </a:t>
            </a:r>
            <a:r>
              <a:rPr lang="es-VE"/>
              <a:t>location</a:t>
            </a:r>
            <a:r>
              <a:t>.</a:t>
            </a:r>
          </a:p>
          <a:p>
            <a:r>
              <a:rPr lang="es-VE"/>
              <a:t>Lo que aprendí</a:t>
            </a:r>
            <a:r>
              <a:t>: </a:t>
            </a:r>
            <a:r>
              <a:rPr lang="es-VE"/>
              <a:t>SUBSTR permite revisar una parte del texto</a:t>
            </a:r>
            <a:r>
              <a:t>. </a:t>
            </a:r>
            <a:r>
              <a:rPr lang="es-VE"/>
              <a:t>Su </a:t>
            </a:r>
            <a:r>
              <a:t>sintaxis </a:t>
            </a:r>
            <a:r>
              <a:rPr lang="es-VE"/>
              <a:t>depende del </a:t>
            </a:r>
            <a:r>
              <a:t>motor</a:t>
            </a:r>
            <a:r>
              <a:rPr lang="es-VE"/>
              <a:t> SQL</a:t>
            </a:r>
            <a:r>
              <a:t>.</a:t>
            </a:r>
          </a:p>
          <a:p>
            <a:r>
              <a:t>Aplicación </a:t>
            </a:r>
            <a:r>
              <a:rPr lang="es-VE"/>
              <a:t>posible en mi trabajo</a:t>
            </a:r>
            <a:r>
              <a:t>: </a:t>
            </a:r>
            <a:r>
              <a:rPr lang="pt-BR"/>
              <a:t>Me serviría para separar códigos o </a:t>
            </a:r>
            <a:r>
              <a:t>sufijos de </a:t>
            </a:r>
            <a:r>
              <a:rPr lang="es-VE"/>
              <a:t>un inventario cuando sigan un formato común</a:t>
            </a:r>
            <a:r>
              <a:t>.</a:t>
            </a:r>
          </a:p>
          <a:p>
            <a:endParaRPr/>
          </a:p>
          <a:p>
            <a:r>
              <a:rPr lang="es-VE"/>
              <a:t>Fuente: captura original </a:t>
            </a:r>
            <a:r>
              <a:t>30 de height_cm.pptx, aportada por la autora.</a:t>
            </a:r>
            <a:r>
              <a:rPr lang="es-VE"/>
              <a:t> Dos recortes fieles de una misma captura: consulta y resultado visible.</a:t>
            </a:r>
            <a:endParaRPr/>
          </a:p>
          <a:p>
            <a:r>
              <a:rPr lang="es-VE"/>
              <a:t>Las aplicaciones describen posibilidades vinculadas a tareas generales de revisión y seguimiento. No incluyen información interna ni afirman un uso actual de estas consultas en el trabajo.</a:t>
            </a:r>
          </a:p>
          <a:p>
            <a:r>
              <a:rPr lang="es-VE"/>
              <a:t>Evidencia visual: recortes originales del editor y del panel de ejecución con confirmación «coincide con lo esperado», pestañas y resultado. Solo se omite espacio vacío del editor. No se alteran la consulta, la confirmación ni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Consulta </a:t>
            </a:r>
            <a:r>
              <a:rPr lang="es-VE"/>
              <a:t>ejecutada, editable</a:t>
            </a:r>
            <a:r>
              <a:t>:</a:t>
            </a:r>
            <a:endParaRPr lang="es-VE"/>
          </a:p>
          <a:p>
            <a:r>
              <a:t>SELECT name, COALESCE(tank, gun, sword) AS weapon</a:t>
            </a:r>
          </a:p>
          <a:p>
            <a:r>
              <a:t>FROM fighters;</a:t>
            </a:r>
          </a:p>
          <a:p>
            <a:r>
              <a:rPr lang="es-VE"/>
              <a:t>Elegí el primer dato disponible siguiendo el orden de las columnas.</a:t>
            </a:r>
          </a:p>
          <a:p>
            <a:r>
              <a:t>La </a:t>
            </a:r>
            <a:r>
              <a:rPr lang="es-VE"/>
              <a:t>consulta tomó </a:t>
            </a:r>
            <a:r>
              <a:t>tank, </a:t>
            </a:r>
            <a:r>
              <a:rPr lang="es-VE"/>
              <a:t>luego </a:t>
            </a:r>
            <a:r>
              <a:t>gun y después sword. </a:t>
            </a:r>
            <a:r>
              <a:rPr lang="es-VE"/>
              <a:t>Si faltaban todos, dejó </a:t>
            </a:r>
            <a:r>
              <a:t>NULL.</a:t>
            </a:r>
          </a:p>
          <a:p>
            <a:r>
              <a:t>COALESCE </a:t>
            </a:r>
            <a:r>
              <a:rPr lang="es-VE"/>
              <a:t>respeta </a:t>
            </a:r>
            <a:r>
              <a:t>el orden de </a:t>
            </a:r>
            <a:r>
              <a:rPr lang="es-VE"/>
              <a:t>prioridad que defino</a:t>
            </a:r>
            <a:r>
              <a:t>.</a:t>
            </a:r>
          </a:p>
          <a:p>
            <a:r>
              <a:rPr lang="es-VE"/>
              <a:t>Lo aplicaría para consolidar un responsable desde varias fuentes sin perder los datos ausentes</a:t>
            </a:r>
            <a:r>
              <a:t>.</a:t>
            </a:r>
          </a:p>
          <a:p>
            <a:r>
              <a:rPr lang="es-VE"/>
              <a:t>Fuente: captura </a:t>
            </a:r>
            <a:r>
              <a:t>31 de height_cm.pptx.</a:t>
            </a:r>
            <a:r>
              <a:rPr lang="es-VE"/>
              <a:t> Aplicación profesional hipotética, sin datos internos.</a:t>
            </a:r>
          </a:p>
          <a:p>
            <a:r>
              <a:rPr lang="es-VE"/>
              <a:t>Evidencia visual: recortes originales del editor y del panel de ejecución con confirmación «coincide con lo esperado», pestañas y resultado. Solo se omite espacio vacío del editor. No se alteran la consulta, la confirmación ni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/>
              <a:t>Reflexión personal redactada para revisión de la autora. Las aplicaciones son posibilidades basadas en categorías generales </a:t>
            </a:r>
            <a:r>
              <a:t>de </a:t>
            </a:r>
            <a:r>
              <a:rPr lang="es-VE"/>
              <a:t>trabajo, sin información interna. Fuente técnica: </a:t>
            </a:r>
            <a:r>
              <a:t>31 capturas aportadas de </a:t>
            </a:r>
            <a:r>
              <a:rPr lang="es-VE"/>
              <a:t>SQL Easy</a:t>
            </a:r>
            <a:r>
              <a:t>. </a:t>
            </a:r>
            <a:r>
              <a:rPr lang="es-VE"/>
              <a:t>Observaciones conservadas: criterio </a:t>
            </a:r>
            <a:r>
              <a:t>de </a:t>
            </a:r>
            <a:r>
              <a:rPr lang="es-VE"/>
              <a:t>ORDER BY </a:t>
            </a:r>
            <a:r>
              <a:t>en </a:t>
            </a:r>
            <a:r>
              <a:rPr lang="es-VE"/>
              <a:t>ejercicio </a:t>
            </a:r>
            <a:r>
              <a:t>11 </a:t>
            </a:r>
            <a:r>
              <a:rPr lang="es-VE"/>
              <a:t>y normalización </a:t>
            </a:r>
            <a:r>
              <a:t>de fecha en </a:t>
            </a:r>
            <a:r>
              <a:rPr lang="es-VE"/>
              <a:t>ejercicio 20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722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1-0001-4000-8000-00000000000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1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304800"/>
            <a:ext cx="857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125" b="0">
                <a:solidFill>
                  <a:srgbClr val="DED2EE"/>
                </a:solidFill>
                <a:latin typeface="DejaVu Sans"/>
                <a:ea typeface="DejaVu Sans"/>
                <a:cs typeface="DejaVu Sans"/>
              </a:rPr>
              <a:t>01 / 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1-000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6574536"/>
            <a:ext cx="1005840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997BA"/>
                </a:solidFill>
                <a:latin typeface="DejaVu Sans"/>
              </a:defRPr>
            </a:pPr>
            <a:r>
              <a:rPr lang="es-VE" sz="850" b="0" dirty="0">
                <a:solidFill>
                  <a:srgbClr val="A997BA"/>
                </a:solidFill>
                <a:latin typeface="DejaVu Sans"/>
              </a:rPr>
              <a:t>Julieth Linares     SQL Easy     Octubre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1-0004-4000-8000-000000000000}"/>
              </a:ext>
            </a:extLst>
          </p:cNvPr>
          <p:cNvSpPr>
            <a:spLocks noGrp="1"/>
          </p:cNvSpPr>
          <p:nvPr/>
        </p:nvSpPr>
        <p:spPr>
          <a:xfrm>
            <a:off x="502920" y="667512"/>
            <a:ext cx="100584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A0FF"/>
                </a:solidFill>
                <a:latin typeface="DejaVu Sans"/>
              </a:defRPr>
            </a:pPr>
            <a:r>
              <a:rPr lang="es-VE" sz="1800" b="1" dirty="0">
                <a:solidFill>
                  <a:srgbClr val="C4A0FF"/>
                </a:solidFill>
                <a:latin typeface="DejaVu Sans"/>
              </a:rPr>
              <a:t>DOCUMENTACIÓN TÉCNICA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1-0005-4000-8000-000000000000}"/>
              </a:ext>
            </a:extLst>
          </p:cNvPr>
          <p:cNvSpPr>
            <a:spLocks noGrp="1"/>
          </p:cNvSpPr>
          <p:nvPr/>
        </p:nvSpPr>
        <p:spPr>
          <a:xfrm>
            <a:off x="502920" y="1444752"/>
            <a:ext cx="8823960" cy="1691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7F2FF"/>
                </a:solidFill>
                <a:latin typeface="DejaVu Sans"/>
              </a:defRPr>
            </a:pPr>
            <a:r>
              <a:rPr lang="es-VE" sz="3800" b="1" dirty="0">
                <a:solidFill>
                  <a:srgbClr val="F7F2FF"/>
                </a:solidFill>
                <a:latin typeface="DejaVu Sans"/>
              </a:rPr>
              <a:t>Resolución de 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7F2FF"/>
                </a:solidFill>
                <a:latin typeface="DejaVu Sans"/>
              </a:defRPr>
            </a:pPr>
            <a:r>
              <a:rPr lang="es-VE" sz="3800" b="1" dirty="0">
                <a:solidFill>
                  <a:srgbClr val="F7F2FF"/>
                </a:solidFill>
                <a:latin typeface="DejaVu Sans"/>
              </a:rPr>
              <a:t>Ejercicios y consultas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7F2FF"/>
                </a:solidFill>
                <a:latin typeface="DejaVu Sans"/>
              </a:defRPr>
            </a:pPr>
            <a:endParaRPr lang="es-VE" sz="3800" b="1" dirty="0">
              <a:solidFill>
                <a:srgbClr val="F7F2FF"/>
              </a:solidFill>
              <a:latin typeface="DejaVu Sans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7F2FF"/>
                </a:solidFill>
                <a:latin typeface="DejaVu Sans"/>
              </a:defRPr>
            </a:pPr>
            <a:r>
              <a:rPr lang="es-VE" sz="6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DejaVu Sans"/>
              </a:rPr>
              <a:t>SQL Easy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1-0006-4000-8000-000000000000}"/>
              </a:ext>
            </a:extLst>
          </p:cNvPr>
          <p:cNvSpPr>
            <a:spLocks noGrp="1"/>
          </p:cNvSpPr>
          <p:nvPr/>
        </p:nvSpPr>
        <p:spPr>
          <a:xfrm>
            <a:off x="530352" y="3493008"/>
            <a:ext cx="9326880" cy="8229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DED2EE"/>
                </a:solidFill>
                <a:latin typeface="DejaVu Sans"/>
              </a:defRPr>
            </a:pPr>
            <a:endParaRPr lang="es-VE" sz="2100" b="0" dirty="0">
              <a:solidFill>
                <a:srgbClr val="DED2EE"/>
              </a:solidFill>
              <a:latin typeface="DejaVu Sa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1-0007-4000-8000-000000000000}"/>
              </a:ext>
            </a:extLst>
          </p:cNvPr>
          <p:cNvSpPr>
            <a:spLocks noGrp="1"/>
          </p:cNvSpPr>
          <p:nvPr/>
        </p:nvSpPr>
        <p:spPr>
          <a:xfrm>
            <a:off x="523875" y="4924425"/>
            <a:ext cx="1000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900" b="1" dirty="0">
                <a:solidFill>
                  <a:srgbClr val="F7F2FF"/>
                </a:solidFill>
                <a:latin typeface="DejaVu Sans"/>
                <a:ea typeface="DejaVu Sans"/>
                <a:cs typeface="DejaVu Sans"/>
              </a:rPr>
              <a:t>Julieth Linares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1-0008-4000-8000-000000000000}"/>
              </a:ext>
            </a:extLst>
          </p:cNvPr>
          <p:cNvSpPr>
            <a:spLocks noGrp="1"/>
          </p:cNvSpPr>
          <p:nvPr/>
        </p:nvSpPr>
        <p:spPr>
          <a:xfrm>
            <a:off x="523875" y="5381625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DED2EE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400" b="0" dirty="0">
                <a:solidFill>
                  <a:srgbClr val="DED2EE"/>
                </a:solidFill>
                <a:latin typeface="DejaVu Sans"/>
                <a:ea typeface="DejaVu Sans"/>
                <a:cs typeface="DejaVu Sans"/>
              </a:rPr>
              <a:t>Hacker Women Council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1-0009-4000-8000-000000000000}"/>
              </a:ext>
            </a:extLst>
          </p:cNvPr>
          <p:cNvSpPr>
            <a:spLocks noGrp="1"/>
          </p:cNvSpPr>
          <p:nvPr/>
        </p:nvSpPr>
        <p:spPr>
          <a:xfrm>
            <a:off x="523875" y="5800725"/>
            <a:ext cx="7620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500" b="0">
                <a:solidFill>
                  <a:srgbClr val="DED2EE"/>
                </a:solidFill>
                <a:latin typeface="DejaVu Sans"/>
                <a:ea typeface="DejaVu Sans"/>
                <a:cs typeface="DejaVu Sans"/>
              </a:rPr>
              <a:t>Octubre 2026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1-000A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0" y="850392"/>
            <a:ext cx="1920240" cy="1508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8800" b="1">
                <a:solidFill>
                  <a:srgbClr val="A875EF"/>
                </a:solidFill>
                <a:latin typeface="DejaVu Sans"/>
              </a:defRPr>
            </a:pPr>
            <a:r>
              <a:rPr lang="es-VE" sz="8800" b="1" dirty="0">
                <a:solidFill>
                  <a:srgbClr val="A875EF"/>
                </a:solidFill>
                <a:latin typeface="DejaVu Sans"/>
              </a:rPr>
              <a:t>31</a:t>
            </a:r>
          </a:p>
        </p:txBody>
      </p:sp>
      <p:pic>
        <p:nvPicPr>
          <p:cNvPr id="15" name="Picture 14" descr="Sql Server Logo Sql Server Generic Detailed Outline Icon | Freepik">
            <a:extLst>
              <a:ext uri="{FF2B5EF4-FFF2-40B4-BE49-F238E27FC236}">
                <a16:creationId xmlns:a16="http://schemas.microsoft.com/office/drawing/2014/main" id="{49B7093B-424E-4799-7BC2-6DEA44BC4C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57360" r="95262">
                        <a14:foregroundMark x1="77500" y1="41563" x2="77500" y2="41563"/>
                        <a14:foregroundMark x1="64323" y1="41354" x2="64323" y2="41354"/>
                        <a14:foregroundMark x1="70677" y1="54063" x2="70677" y2="54063"/>
                        <a14:foregroundMark x1="64688" y1="49583" x2="64688" y2="49583"/>
                        <a14:foregroundMark x1="67865" y1="65000" x2="67865" y2="65000"/>
                        <a14:foregroundMark x1="64479" y1="58438" x2="64479" y2="58438"/>
                        <a14:foregroundMark x1="85208" y1="60417" x2="85208" y2="60417"/>
                        <a14:foregroundMark x1="81875" y1="62292" x2="81875" y2="62292"/>
                      </a14:backgroundRemoval>
                    </a14:imgEffect>
                  </a14:imgLayer>
                </a14:imgProps>
              </a:ext>
            </a:extLst>
          </a:blip>
          <a:srcRect l="57624" t="17282" r="8306" b="24133"/>
          <a:stretch>
            <a:fillRect/>
          </a:stretch>
        </p:blipFill>
        <p:spPr>
          <a:xfrm>
            <a:off x="6917473" y="970532"/>
            <a:ext cx="5274527" cy="453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02-0001-4000-8000-00000000000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F1F5F9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2250" b="1">
                <a:solidFill>
                  <a:srgbClr val="F7F2FF"/>
                </a:solidFill>
                <a:latin typeface="DejaVu Sans"/>
                <a:ea typeface="DejaVu Sans"/>
                <a:cs typeface="DejaVu Sans"/>
              </a:rPr>
              <a:t>Ejercicios 01 y 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2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304800"/>
            <a:ext cx="857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125" b="0">
                <a:solidFill>
                  <a:srgbClr val="DED2EE"/>
                </a:solidFill>
                <a:latin typeface="DejaVu Sans"/>
                <a:ea typeface="DejaVu Sans"/>
                <a:cs typeface="DejaVu Sans"/>
              </a:rPr>
              <a:t>02 / 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2-000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6574536"/>
            <a:ext cx="1005840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997BA"/>
                </a:solidFill>
                <a:latin typeface="DejaVu Sans"/>
              </a:defRPr>
            </a:pPr>
            <a:r>
              <a:rPr lang="es-VE" sz="850" b="0">
                <a:solidFill>
                  <a:srgbClr val="A997BA"/>
                </a:solidFill>
                <a:latin typeface="DejaVu Sans"/>
              </a:rPr>
              <a:t>Julieth Linares     SQL Easy     Octubre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2-000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932688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2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932688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Selección completa de registros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2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325880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Quise ver todos los datos de family_members antes de aplicar filtros.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2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755648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SELECT * y FROM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2-0008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057400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Obtuve los registros de Dave, Mary y Pickles con todas sus columnas.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2-0009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569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SELECT * me ayuda a explorar una tabla. Después conviene elegir solo los campos necesarios.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2-000A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081528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Me serviría para revisar un inventario de software antes de definir qué datos necesito.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2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1348740"/>
            <a:ext cx="5037966" cy="2313432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2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3685031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2-000F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730752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2-0010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3730752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Selección de campos específicos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2-0011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123944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Seleccioné solo el nombre y la especie de cada registro.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2-0012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553712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Proyección de columnas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2-001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855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Vi los mismos tres registros, pero con dos columnas en lugar de cinco.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2-001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367528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Puedo reducir la salida sin perder los registros que necesito revisar.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2-0015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879592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Lo usaría para preparar reportes con lo necesario, sin incluir datos personales de más.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2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4146803"/>
            <a:ext cx="5037966" cy="2313432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2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6483096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pic>
        <p:nvPicPr>
          <p:cNvPr id="58" name="Picture 57" descr="query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408176"/>
            <a:ext cx="4919094" cy="576681"/>
          </a:xfrm>
          <a:prstGeom prst="rect">
            <a:avLst/>
          </a:prstGeom>
        </p:spPr>
      </p:pic>
      <p:pic>
        <p:nvPicPr>
          <p:cNvPr id="59" name="Picture 58" descr="confirmed-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016861"/>
            <a:ext cx="4919094" cy="1585874"/>
          </a:xfrm>
          <a:prstGeom prst="rect">
            <a:avLst/>
          </a:prstGeom>
        </p:spPr>
      </p:pic>
      <p:pic>
        <p:nvPicPr>
          <p:cNvPr id="60" name="Picture 59" descr="query-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4206240"/>
            <a:ext cx="4919094" cy="576681"/>
          </a:xfrm>
          <a:prstGeom prst="rect">
            <a:avLst/>
          </a:prstGeom>
        </p:spPr>
      </p:pic>
      <p:pic>
        <p:nvPicPr>
          <p:cNvPr id="61" name="Picture 60" descr="confirmed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4814925"/>
            <a:ext cx="4919094" cy="158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03-0001-4000-8000-00000000000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F1F5F9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2250" b="1">
                <a:solidFill>
                  <a:srgbClr val="F7F2FF"/>
                </a:solidFill>
                <a:latin typeface="DejaVu Sans"/>
                <a:ea typeface="DejaVu Sans"/>
                <a:cs typeface="DejaVu Sans"/>
              </a:rPr>
              <a:t>Ejercicios 03 y 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3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304800"/>
            <a:ext cx="857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125" b="0">
                <a:solidFill>
                  <a:srgbClr val="DED2EE"/>
                </a:solidFill>
                <a:latin typeface="DejaVu Sans"/>
                <a:ea typeface="DejaVu Sans"/>
                <a:cs typeface="DejaVu Sans"/>
              </a:rPr>
              <a:t>03 / 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3-000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6574536"/>
            <a:ext cx="1005840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997BA"/>
                </a:solidFill>
                <a:latin typeface="DejaVu Sans"/>
              </a:defRPr>
            </a:pPr>
            <a:r>
              <a:rPr lang="es-VE" sz="850" b="0">
                <a:solidFill>
                  <a:srgbClr val="A997BA"/>
                </a:solidFill>
                <a:latin typeface="DejaVu Sans"/>
              </a:rPr>
              <a:t>Julieth Linares     SQL Easy     Octubre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3-000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932688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3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932688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Filtro por igualdad de texto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3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325880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Busqué los registros cuya especie era dog.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3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755648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WHERE y operador =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3-0008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057400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Solo apareció Pickles. Los registros de especie human quedaron fuera.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3-0009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569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La igualdad permite buscar un valor exacto. Las cadenas necesitan comillas.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3-000A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081528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Me ayudaría a ubicar un software específico dentro de un inventario de equipos.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3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1348740"/>
            <a:ext cx="5696712" cy="2186918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3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3558518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3-000F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730752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3-0010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3730752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Filtro numérico estricto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3-0011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123944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Filtré a quienes tenían más de 190 libros leídos.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3-0012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553712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WHERE y operador &gt;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3-001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855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Obtuve a Dave, con 200 libros. El filtro excluyó los demás registros.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3-001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367528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El operador &gt; deja fuera el valor del límite que definí.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3-0015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879592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Lo aplicaría para separar hallazgos que superen un umbral de antigüedad en un reporte.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3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4146803"/>
            <a:ext cx="5696712" cy="2184531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3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6354195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pic>
        <p:nvPicPr>
          <p:cNvPr id="58" name="Picture 57" descr="query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408176"/>
            <a:ext cx="5577840" cy="654676"/>
          </a:xfrm>
          <a:prstGeom prst="rect">
            <a:avLst/>
          </a:prstGeom>
        </p:spPr>
      </p:pic>
      <p:pic>
        <p:nvPicPr>
          <p:cNvPr id="59" name="Picture 58" descr="confirmed-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094856"/>
            <a:ext cx="5577840" cy="1381366"/>
          </a:xfrm>
          <a:prstGeom prst="rect">
            <a:avLst/>
          </a:prstGeom>
        </p:spPr>
      </p:pic>
      <p:pic>
        <p:nvPicPr>
          <p:cNvPr id="60" name="Picture 59" descr="query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4206240"/>
            <a:ext cx="5577840" cy="653908"/>
          </a:xfrm>
          <a:prstGeom prst="rect">
            <a:avLst/>
          </a:prstGeom>
        </p:spPr>
      </p:pic>
      <p:pic>
        <p:nvPicPr>
          <p:cNvPr id="61" name="Picture 60" descr="confirmed-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4892152"/>
            <a:ext cx="5577840" cy="137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04-0001-4000-8000-00000000000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F1F5F9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2250" b="1">
                <a:solidFill>
                  <a:srgbClr val="F7F2FF"/>
                </a:solidFill>
                <a:latin typeface="DejaVu Sans"/>
                <a:ea typeface="DejaVu Sans"/>
                <a:cs typeface="DejaVu Sans"/>
              </a:rPr>
              <a:t>Ejercicios 05 y 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4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304800"/>
            <a:ext cx="857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125" b="0">
                <a:solidFill>
                  <a:srgbClr val="DED2EE"/>
                </a:solidFill>
                <a:latin typeface="DejaVu Sans"/>
                <a:ea typeface="DejaVu Sans"/>
                <a:cs typeface="DejaVu Sans"/>
              </a:rPr>
              <a:t>04 / 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4-000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6574536"/>
            <a:ext cx="1005840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997BA"/>
                </a:solidFill>
                <a:latin typeface="DejaVu Sans"/>
              </a:defRPr>
            </a:pPr>
            <a:r>
              <a:rPr lang="es-VE" sz="850" b="0">
                <a:solidFill>
                  <a:srgbClr val="A997BA"/>
                </a:solidFill>
                <a:latin typeface="DejaVu Sans"/>
              </a:rPr>
              <a:t>Julieth Linares     SQL Easy     Octubre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4-000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932688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4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932688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Filtro numérico inclusivo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4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325880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Busqué a quienes tenían al menos 180 libros leídos.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4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755648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WHERE y operador &gt;=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4-0008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057400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Aparecieron Dave y Mary. Mary entró porque tenía exactamente 180.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4-0009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569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Con &gt;= incluyo también los registros que coinciden con el límite.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4-000A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081528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Me serviría para revisar pendientes con un tiempo de atención igual o mayor al definido.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4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1348740"/>
            <a:ext cx="5490585" cy="2313432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4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3685031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4-000F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730752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06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4-0010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3730752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Intersección de condiciones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4-0011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123944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Combiné dos criterios: especie dog y altura menor de 45 cm.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4-0012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553712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Operador lógico AND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4-001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855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Obtuve a Pickles porque cumplía ambas condiciones.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4-001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367528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AND me permite acotar la revisión a registros que cumplan todos los criterios.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4-0015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879592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Lo usaría para revisar hallazgos abiertos de una categoría concreta antes de darles seguimiento.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4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4146803"/>
            <a:ext cx="5696712" cy="2184531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4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6354195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pic>
        <p:nvPicPr>
          <p:cNvPr id="58" name="Picture 57" descr="query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408176"/>
            <a:ext cx="5371713" cy="630482"/>
          </a:xfrm>
          <a:prstGeom prst="rect">
            <a:avLst/>
          </a:prstGeom>
        </p:spPr>
      </p:pic>
      <p:pic>
        <p:nvPicPr>
          <p:cNvPr id="59" name="Picture 58" descr="confirmed-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070662"/>
            <a:ext cx="5371713" cy="1532073"/>
          </a:xfrm>
          <a:prstGeom prst="rect">
            <a:avLst/>
          </a:prstGeom>
        </p:spPr>
      </p:pic>
      <p:pic>
        <p:nvPicPr>
          <p:cNvPr id="60" name="Picture 59" descr="query-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4206240"/>
            <a:ext cx="5577840" cy="653908"/>
          </a:xfrm>
          <a:prstGeom prst="rect">
            <a:avLst/>
          </a:prstGeom>
        </p:spPr>
      </p:pic>
      <p:pic>
        <p:nvPicPr>
          <p:cNvPr id="61" name="Picture 60" descr="confirmed-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4892152"/>
            <a:ext cx="5577840" cy="137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05-0001-4000-8000-00000000000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F1F5F9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2250" b="1">
                <a:solidFill>
                  <a:srgbClr val="F7F2FF"/>
                </a:solidFill>
                <a:latin typeface="DejaVu Sans"/>
                <a:ea typeface="DejaVu Sans"/>
                <a:cs typeface="DejaVu Sans"/>
              </a:rPr>
              <a:t>Ejercicios 07 y 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5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304800"/>
            <a:ext cx="857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125" b="0">
                <a:solidFill>
                  <a:srgbClr val="DED2EE"/>
                </a:solidFill>
                <a:latin typeface="DejaVu Sans"/>
                <a:ea typeface="DejaVu Sans"/>
                <a:cs typeface="DejaVu Sans"/>
              </a:rPr>
              <a:t>05 / 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5-000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6574536"/>
            <a:ext cx="1005840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997BA"/>
                </a:solidFill>
                <a:latin typeface="DejaVu Sans"/>
              </a:defRPr>
            </a:pPr>
            <a:r>
              <a:rPr lang="es-VE" sz="850" b="0">
                <a:solidFill>
                  <a:srgbClr val="A997BA"/>
                </a:solidFill>
                <a:latin typeface="DejaVu Sans"/>
              </a:rPr>
              <a:t>Julieth Linares     SQL Easy     Octubre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5-000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932688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5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932688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Unión inclusiva de condiciones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5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325880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Busqué registros de menos de 45 cm o de especie dog.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5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755648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Operador lógico 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5-0008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057400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La salida incluyó registros bajos y perros, aunque no cumplieran ambos criterios.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5-0009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569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OR amplía la búsqueda cuando basta con que se cumpla una condición.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5-000A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081528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Me ayudaría a reunir pendientes de dos categorías para preparar una misma revisión.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5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1348740"/>
            <a:ext cx="4479770" cy="2313432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5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3685031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5-000F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730752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08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5-0010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3730752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Exclusión de un conjunto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5-0011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123944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Excluí las especies cat y dog de la consulta.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5-0012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553712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NOT IN (lista de valores)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5-001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855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La salida conservó a Dave y Mary, ambos de especie human.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5-001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367528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NOT IN simplifica varias exclusiones. Debo tener cuidado con los valores NULL.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5-0015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879592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Lo aplicaría para separar estados que no pertenezcan a las categorías previstas en un reporte.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5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4146803"/>
            <a:ext cx="5496890" cy="2313432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5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6483096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pic>
        <p:nvPicPr>
          <p:cNvPr id="58" name="Picture 57" descr="query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408176"/>
            <a:ext cx="4360898" cy="511242"/>
          </a:xfrm>
          <a:prstGeom prst="rect">
            <a:avLst/>
          </a:prstGeom>
        </p:spPr>
      </p:pic>
      <p:pic>
        <p:nvPicPr>
          <p:cNvPr id="59" name="Picture 58" descr="confirmed-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1951422"/>
            <a:ext cx="4360898" cy="1651313"/>
          </a:xfrm>
          <a:prstGeom prst="rect">
            <a:avLst/>
          </a:prstGeom>
        </p:spPr>
      </p:pic>
      <p:pic>
        <p:nvPicPr>
          <p:cNvPr id="60" name="Picture 59" descr="query-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4206240"/>
            <a:ext cx="5378018" cy="630482"/>
          </a:xfrm>
          <a:prstGeom prst="rect">
            <a:avLst/>
          </a:prstGeom>
        </p:spPr>
      </p:pic>
      <p:pic>
        <p:nvPicPr>
          <p:cNvPr id="61" name="Picture 60" descr="confirmed-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4868726"/>
            <a:ext cx="5378018" cy="153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06-0001-4000-8000-00000000000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F1F5F9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2250" b="1">
                <a:solidFill>
                  <a:srgbClr val="F7F2FF"/>
                </a:solidFill>
                <a:latin typeface="DejaVu Sans"/>
                <a:ea typeface="DejaVu Sans"/>
                <a:cs typeface="DejaVu Sans"/>
              </a:rPr>
              <a:t>Ejercicios 09 y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6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304800"/>
            <a:ext cx="857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125" b="0">
                <a:solidFill>
                  <a:srgbClr val="DED2EE"/>
                </a:solidFill>
                <a:latin typeface="DejaVu Sans"/>
                <a:ea typeface="DejaVu Sans"/>
                <a:cs typeface="DejaVu Sans"/>
              </a:rPr>
              <a:t>06 / 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6-000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6574536"/>
            <a:ext cx="1005840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997BA"/>
                </a:solidFill>
                <a:latin typeface="DejaVu Sans"/>
              </a:defRPr>
            </a:pPr>
            <a:r>
              <a:rPr lang="es-VE" sz="850" b="0">
                <a:solidFill>
                  <a:srgbClr val="A997BA"/>
                </a:solidFill>
                <a:latin typeface="DejaVu Sans"/>
              </a:rPr>
              <a:t>Julieth Linares     SQL Easy     Octubre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6-000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932688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6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932688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Valores distintos con filtro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6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325880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Busqué las especies distintas de registros con más de 50 cm de altura.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6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755648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DISTINCT combinado con WHERE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6-0008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057400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Obtuve human y dog, sin repetir las especies.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6-0009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569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DISTINCT me ayuda a ver categorías sin arrastrar los registros duplicados.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6-000A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081528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Me serviría para identificar los tipos de software o hallazgos presentes en un inventario.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6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1348740"/>
            <a:ext cx="5496890" cy="2313432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6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3685031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6-000F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730752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10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6-0010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3730752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Ordenamiento descendente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6-0011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123944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Ordené los registros desde la mayor altura hasta la menor.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6-0012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553712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ORDER BY y DESC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6-001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855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Dave y Mary quedaron al inicio. El resto siguió el orden descendente.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6-001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367528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Puedo ordenar una salida sin cambiar la información de la tabla.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6-0015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879592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Lo usaría para organizar los pendientes más antiguos antes de una reunión de seguimiento.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6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4146803"/>
            <a:ext cx="4479770" cy="2313432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6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6483096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pic>
        <p:nvPicPr>
          <p:cNvPr id="58" name="Picture 57" descr="query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408176"/>
            <a:ext cx="5378018" cy="630482"/>
          </a:xfrm>
          <a:prstGeom prst="rect">
            <a:avLst/>
          </a:prstGeom>
        </p:spPr>
      </p:pic>
      <p:pic>
        <p:nvPicPr>
          <p:cNvPr id="59" name="Picture 58" descr="confirmed-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070662"/>
            <a:ext cx="5378018" cy="1532073"/>
          </a:xfrm>
          <a:prstGeom prst="rect">
            <a:avLst/>
          </a:prstGeom>
        </p:spPr>
      </p:pic>
      <p:pic>
        <p:nvPicPr>
          <p:cNvPr id="60" name="Picture 59" descr="query-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4206240"/>
            <a:ext cx="4360898" cy="511242"/>
          </a:xfrm>
          <a:prstGeom prst="rect">
            <a:avLst/>
          </a:prstGeom>
        </p:spPr>
      </p:pic>
      <p:pic>
        <p:nvPicPr>
          <p:cNvPr id="61" name="Picture 60" descr="confirmed-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4749486"/>
            <a:ext cx="4360898" cy="165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07-0001-4000-8000-00000000000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F1F5F9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2250" b="1">
                <a:solidFill>
                  <a:srgbClr val="F7F2FF"/>
                </a:solidFill>
                <a:latin typeface="DejaVu Sans"/>
                <a:ea typeface="DejaVu Sans"/>
                <a:cs typeface="DejaVu Sans"/>
              </a:rPr>
              <a:t>Ejercicios 11 y 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7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304800"/>
            <a:ext cx="857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125" b="0">
                <a:solidFill>
                  <a:srgbClr val="DED2EE"/>
                </a:solidFill>
                <a:latin typeface="DejaVu Sans"/>
                <a:ea typeface="DejaVu Sans"/>
                <a:cs typeface="DejaVu Sans"/>
              </a:rPr>
              <a:t>07 / 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7-000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6574536"/>
            <a:ext cx="1005840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997BA"/>
                </a:solidFill>
                <a:latin typeface="DejaVu Sans"/>
              </a:defRPr>
            </a:pPr>
            <a:r>
              <a:rPr lang="es-VE" sz="850" b="0">
                <a:solidFill>
                  <a:srgbClr val="A997BA"/>
                </a:solidFill>
                <a:latin typeface="DejaVu Sans"/>
              </a:rPr>
              <a:t>Julieth Linares     SQL Easy     Octubre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7-000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932688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7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932688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Limitación de registros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7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325880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Limité la salida a una fila después de aplicar la ordenación.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7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755648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ORDER BY multicolumna y LIMIT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7-0008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057400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Apareció Dave. Noté que mi consulta ordena primero por id, no por altura.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7-0009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569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Para garantizar el más alto, debo usar ORDER BY height_cm DESC LIMIT 1.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7-000A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081528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Me recuerda que debo revisar el criterio antes de presentar un caso como el más prioritario.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7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1348740"/>
            <a:ext cx="5696712" cy="2194113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7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3565713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7-000F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730752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7-0010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3730752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Conteo total de filas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7-0011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123944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Conté todos los registros de friends_of_pickles.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7-0012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553712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Función de agregación COUNT(*)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7-001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855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La consulta devolvió 7, que es el total de filas de la tabla.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7-001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367528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COUNT(*) cuenta filas y evita que tenga que revisar el total manualmente.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7-0015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879592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Me ayudaría a comprobar cuántos registros recibí antes de consolidar un reporte.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7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4146803"/>
            <a:ext cx="5696712" cy="2184531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7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6354195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pic>
        <p:nvPicPr>
          <p:cNvPr id="58" name="Picture 57" descr="query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408176"/>
            <a:ext cx="5577840" cy="656989"/>
          </a:xfrm>
          <a:prstGeom prst="rect">
            <a:avLst/>
          </a:prstGeom>
        </p:spPr>
      </p:pic>
      <p:pic>
        <p:nvPicPr>
          <p:cNvPr id="59" name="Picture 58" descr="confirmed-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097169"/>
            <a:ext cx="5577840" cy="1386247"/>
          </a:xfrm>
          <a:prstGeom prst="rect">
            <a:avLst/>
          </a:prstGeom>
        </p:spPr>
      </p:pic>
      <p:pic>
        <p:nvPicPr>
          <p:cNvPr id="60" name="Picture 59" descr="query-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4206240"/>
            <a:ext cx="5577840" cy="653908"/>
          </a:xfrm>
          <a:prstGeom prst="rect">
            <a:avLst/>
          </a:prstGeom>
        </p:spPr>
      </p:pic>
      <p:pic>
        <p:nvPicPr>
          <p:cNvPr id="61" name="Picture 60" descr="confirmed-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4892152"/>
            <a:ext cx="5577840" cy="137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08-0001-4000-8000-00000000000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F1F5F9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2250" b="1">
                <a:solidFill>
                  <a:srgbClr val="F7F2FF"/>
                </a:solidFill>
                <a:latin typeface="DejaVu Sans"/>
                <a:ea typeface="DejaVu Sans"/>
                <a:cs typeface="DejaVu Sans"/>
              </a:rPr>
              <a:t>Ejercicios 13 y 14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8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304800"/>
            <a:ext cx="857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125" b="0">
                <a:solidFill>
                  <a:srgbClr val="DED2EE"/>
                </a:solidFill>
                <a:latin typeface="DejaVu Sans"/>
                <a:ea typeface="DejaVu Sans"/>
                <a:cs typeface="DejaVu Sans"/>
              </a:rPr>
              <a:t>08 / 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8-000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6574536"/>
            <a:ext cx="1005840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997BA"/>
                </a:solidFill>
                <a:latin typeface="DejaVu Sans"/>
              </a:defRPr>
            </a:pPr>
            <a:r>
              <a:rPr lang="es-VE" sz="850" b="0">
                <a:solidFill>
                  <a:srgbClr val="A997BA"/>
                </a:solidFill>
                <a:latin typeface="DejaVu Sans"/>
              </a:rPr>
              <a:t>Julieth Linares     SQL Easy     Octubre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8-000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932688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8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932688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Conteo condicionado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8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325880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Conté únicamente los registros de especie dog.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8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755648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n-US" sz="1250" b="0">
                <a:solidFill>
                  <a:srgbClr val="F7F2FF"/>
                </a:solidFill>
                <a:latin typeface="DejaVu Sans"/>
              </a:rPr>
              <a:t>COUNT(*) combinado con WHERE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8-0008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057400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Obtuve un total de 3 registros después de aplicar el filtro.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8-0009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569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El filtro define qué filas entran en el conteo.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8-000A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081528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Lo usaría para resumir cuántos pendientes hay de una categoría en el seguimiento.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8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1348740"/>
            <a:ext cx="5696712" cy="2160966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8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3532566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8-000F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730752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14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8-0010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3730752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Suma de valores numéricos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8-0011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123944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Sumé los libros leídos por los miembros de family_members.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8-0012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553712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Función de agregación SUM()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8-001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855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Obtuve 380, que corresponde a 200 más 180 más 0.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8-001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367528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SUM reúne valores numéricos e ignora los datos NULL.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8-0015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879592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Me serviría para consolidar cantidades de varios registros antes de preparar un resumen.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8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4146803"/>
            <a:ext cx="5696712" cy="2189311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8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6358975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pic>
        <p:nvPicPr>
          <p:cNvPr id="58" name="Picture 57" descr="query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408176"/>
            <a:ext cx="5577840" cy="646331"/>
          </a:xfrm>
          <a:prstGeom prst="rect">
            <a:avLst/>
          </a:prstGeom>
        </p:spPr>
      </p:pic>
      <p:pic>
        <p:nvPicPr>
          <p:cNvPr id="59" name="Picture 58" descr="confirmed-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086511"/>
            <a:ext cx="5577840" cy="1363759"/>
          </a:xfrm>
          <a:prstGeom prst="rect">
            <a:avLst/>
          </a:prstGeom>
        </p:spPr>
      </p:pic>
      <p:pic>
        <p:nvPicPr>
          <p:cNvPr id="60" name="Picture 59" descr="query-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4206240"/>
            <a:ext cx="5577840" cy="655445"/>
          </a:xfrm>
          <a:prstGeom prst="rect">
            <a:avLst/>
          </a:prstGeom>
        </p:spPr>
      </p:pic>
      <p:pic>
        <p:nvPicPr>
          <p:cNvPr id="61" name="Picture 60" descr="confirmed-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4893689"/>
            <a:ext cx="5577840" cy="138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09-0001-4000-8000-00000000000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F1F5F9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2250" b="1">
                <a:solidFill>
                  <a:srgbClr val="F7F2FF"/>
                </a:solidFill>
                <a:latin typeface="DejaVu Sans"/>
                <a:ea typeface="DejaVu Sans"/>
                <a:cs typeface="DejaVu Sans"/>
              </a:rPr>
              <a:t>Ejercicios 15 y 16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9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304800"/>
            <a:ext cx="857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125" b="0">
                <a:solidFill>
                  <a:srgbClr val="DED2EE"/>
                </a:solidFill>
                <a:latin typeface="DejaVu Sans"/>
                <a:ea typeface="DejaVu Sans"/>
                <a:cs typeface="DejaVu Sans"/>
              </a:rPr>
              <a:t>09 / 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9-000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6574536"/>
            <a:ext cx="1005840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997BA"/>
                </a:solidFill>
                <a:latin typeface="DejaVu Sans"/>
              </a:defRPr>
            </a:pPr>
            <a:r>
              <a:rPr lang="es-VE" sz="850" b="0">
                <a:solidFill>
                  <a:srgbClr val="A997BA"/>
                </a:solidFill>
                <a:latin typeface="DejaVu Sans"/>
              </a:rPr>
              <a:t>Julieth Linares     SQL Easy     Octubre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9-000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932688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15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9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932688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Media aritmética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9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325880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Calculé el promedio de libros leídos por los tres miembros.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9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755648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Función de agregación AVG()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9-0008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057400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El resultado fue aproximadamente 126,67 libros, a partir de 380 dividido entre 3.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9-0009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569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AVG incluye los ceros y deja fuera los valores NULL.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9-000A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081528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Lo aplicaría para analizar el tiempo promedio de atención de los casos que reviso.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9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1348740"/>
            <a:ext cx="5696712" cy="2184531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9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3556131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9-000F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730752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16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9-0010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3730752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Valor máximo de una columna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9-0011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123944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Busqué el mayor número de libros leídos en la tabla.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9-0012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553712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Función de agregación MAX()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9-001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855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La consulta devolvió 200 como valor máximo.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9-001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367528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MAX devuelve el valor. Para ver la fila completa necesito una consulta adicional.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9-0015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879592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Me ayudaría a identificar el mayor tiempo pendiente dentro de un reporte de seguimiento.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9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4146803"/>
            <a:ext cx="5696712" cy="2191709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9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6361373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pic>
        <p:nvPicPr>
          <p:cNvPr id="58" name="Picture 57" descr="query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408176"/>
            <a:ext cx="5577840" cy="653908"/>
          </a:xfrm>
          <a:prstGeom prst="rect">
            <a:avLst/>
          </a:prstGeom>
        </p:spPr>
      </p:pic>
      <p:pic>
        <p:nvPicPr>
          <p:cNvPr id="59" name="Picture 58" descr="confirmed-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094088"/>
            <a:ext cx="5577840" cy="1379747"/>
          </a:xfrm>
          <a:prstGeom prst="rect">
            <a:avLst/>
          </a:prstGeom>
        </p:spPr>
      </p:pic>
      <p:pic>
        <p:nvPicPr>
          <p:cNvPr id="60" name="Picture 59" descr="query-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4206240"/>
            <a:ext cx="5577840" cy="656216"/>
          </a:xfrm>
          <a:prstGeom prst="rect">
            <a:avLst/>
          </a:prstGeom>
        </p:spPr>
      </p:pic>
      <p:pic>
        <p:nvPicPr>
          <p:cNvPr id="61" name="Picture 60" descr="confirmed-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4894460"/>
            <a:ext cx="5577840" cy="138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0A-0001-4000-8000-00000000000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F1F5F9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2250" b="1">
                <a:solidFill>
                  <a:srgbClr val="F7F2FF"/>
                </a:solidFill>
                <a:latin typeface="DejaVu Sans"/>
                <a:ea typeface="DejaVu Sans"/>
                <a:cs typeface="DejaVu Sans"/>
              </a:rPr>
              <a:t>Ejercicios 17 y 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A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304800"/>
            <a:ext cx="857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125" b="0">
                <a:solidFill>
                  <a:srgbClr val="DED2EE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A-000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6574536"/>
            <a:ext cx="1005840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997BA"/>
                </a:solidFill>
                <a:latin typeface="DejaVu Sans"/>
              </a:defRPr>
            </a:pPr>
            <a:r>
              <a:rPr lang="es-VE" sz="850" b="0">
                <a:solidFill>
                  <a:srgbClr val="A997BA"/>
                </a:solidFill>
                <a:latin typeface="DejaVu Sans"/>
              </a:rPr>
              <a:t>Julieth Linares     SQL Easy     Octubre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A-000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932688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17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A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932688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Agregación por categoría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A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325880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Agrupé los registros por especie y calculé su altura máxima.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A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755648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n-US" sz="1250" b="0">
                <a:solidFill>
                  <a:srgbClr val="F7F2FF"/>
                </a:solidFill>
                <a:latin typeface="DejaVu Sans"/>
              </a:rPr>
              <a:t>GROUP BY y MAX()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A-0008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057400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Obtuve 30 cm para cat, 55 cm para dog y 180 cm para human.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A-0009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569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Cada grupo tiene su propio resultado, aunque use la misma función.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A-000A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081528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Lo usaría para comparar la mayor antigüedad de los pendientes por categoría.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A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1348740"/>
            <a:ext cx="5037966" cy="2313432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A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3685031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A-000F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730752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18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A-0010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3730752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Subconsulta de valor único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A-0011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123944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Busqué la fila que tenía el máximo número de libros leídos.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A-0012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553712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Subconsulta escalar con MAX()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A-001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855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La consulta interna calculó 200 y la consulta externa devolvió a Dave.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A-001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367528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La subconsulta evita fijar el máximo a mano y también puede devolver empates.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A-0015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879592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Me serviría para recuperar el detalle del caso más antiguo de un reporte actualizado.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A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4146803"/>
            <a:ext cx="5658392" cy="2313432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A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6483095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pic>
        <p:nvPicPr>
          <p:cNvPr id="58" name="Picture 57" descr="query-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408176"/>
            <a:ext cx="4919094" cy="576681"/>
          </a:xfrm>
          <a:prstGeom prst="rect">
            <a:avLst/>
          </a:prstGeom>
        </p:spPr>
      </p:pic>
      <p:pic>
        <p:nvPicPr>
          <p:cNvPr id="59" name="Picture 58" descr="confirmed-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016861"/>
            <a:ext cx="4919094" cy="1585874"/>
          </a:xfrm>
          <a:prstGeom prst="rect">
            <a:avLst/>
          </a:prstGeom>
        </p:spPr>
      </p:pic>
      <p:pic>
        <p:nvPicPr>
          <p:cNvPr id="60" name="Picture 59" descr="query-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4206240"/>
            <a:ext cx="5539520" cy="792287"/>
          </a:xfrm>
          <a:prstGeom prst="rect">
            <a:avLst/>
          </a:prstGeom>
        </p:spPr>
      </p:pic>
      <p:pic>
        <p:nvPicPr>
          <p:cNvPr id="61" name="Picture 60" descr="confirmed-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5030531"/>
            <a:ext cx="5539520" cy="137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0B-0001-4000-8000-00000000000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F1F5F9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2250" b="1">
                <a:solidFill>
                  <a:srgbClr val="F7F2FF"/>
                </a:solidFill>
                <a:latin typeface="DejaVu Sans"/>
                <a:ea typeface="DejaVu Sans"/>
                <a:cs typeface="DejaVu Sans"/>
              </a:rPr>
              <a:t>Ejercicios 19 y 20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B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304800"/>
            <a:ext cx="857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125" b="0">
                <a:solidFill>
                  <a:srgbClr val="DED2EE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B-000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6574536"/>
            <a:ext cx="1005840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997BA"/>
                </a:solidFill>
                <a:latin typeface="DejaVu Sans"/>
              </a:defRPr>
            </a:pPr>
            <a:r>
              <a:rPr lang="es-VE" sz="850" b="0">
                <a:solidFill>
                  <a:srgbClr val="A997BA"/>
                </a:solidFill>
                <a:latin typeface="DejaVu Sans"/>
              </a:rPr>
              <a:t>Julieth Linares     SQL Easy     Octubre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B-000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932688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19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B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932688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Tratamiento de datos nulos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B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325880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Filtré a los miembros que tenían un libro favorito registrado.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B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755648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n-US" sz="1250" b="0">
                <a:solidFill>
                  <a:srgbClr val="F7F2FF"/>
                </a:solidFill>
                <a:latin typeface="DejaVu Sans"/>
              </a:rPr>
              <a:t>IS NOT NULL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B-0008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057400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Aparecieron Dave y Mary. Pickles quedó fuera porque ese dato estaba vacío.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B-0009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569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Para comprobar datos ausentes necesito IS NULL o IS NOT NULL.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B-000A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081528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Lo aplicaría al revisar si un registro tiene responsable o evidencia de cierre informada.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B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1348740"/>
            <a:ext cx="5496890" cy="2313432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B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3685031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B-000F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730752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B-0010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3730752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Comparación de fechas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B-0011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123944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Busqué celebridades nacidas después del 1 de septiembre de 1980.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B-0012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553712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n-US" sz="1250" b="0">
                <a:solidFill>
                  <a:srgbClr val="F7F2FF"/>
                </a:solidFill>
                <a:latin typeface="DejaVu Sans"/>
              </a:rPr>
              <a:t>WHERE sobre birthdate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B-001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855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Obtuve a Justin Timberlake y Taylor Swift.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B-001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367528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Mi consulta funcionó, pero conviene escribir la fecha completa como 1980-09-01.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B-0015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879592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Me ayudaría a delimitar el periodo de un reporte o el avance de una capacitación.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B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4146803"/>
            <a:ext cx="5496890" cy="2313432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B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6483096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pic>
        <p:nvPicPr>
          <p:cNvPr id="58" name="Picture 57" descr="query-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408176"/>
            <a:ext cx="5378018" cy="630482"/>
          </a:xfrm>
          <a:prstGeom prst="rect">
            <a:avLst/>
          </a:prstGeom>
        </p:spPr>
      </p:pic>
      <p:pic>
        <p:nvPicPr>
          <p:cNvPr id="59" name="Picture 58" descr="confirmed-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070662"/>
            <a:ext cx="5378018" cy="1532073"/>
          </a:xfrm>
          <a:prstGeom prst="rect">
            <a:avLst/>
          </a:prstGeom>
        </p:spPr>
      </p:pic>
      <p:pic>
        <p:nvPicPr>
          <p:cNvPr id="60" name="Picture 59" descr="query-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4206240"/>
            <a:ext cx="5378018" cy="630482"/>
          </a:xfrm>
          <a:prstGeom prst="rect">
            <a:avLst/>
          </a:prstGeom>
        </p:spPr>
      </p:pic>
      <p:pic>
        <p:nvPicPr>
          <p:cNvPr id="61" name="Picture 60" descr="confirmed-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4868726"/>
            <a:ext cx="5378018" cy="153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0C-0001-4000-8000-00000000000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F1F5F9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2250" b="1">
                <a:solidFill>
                  <a:srgbClr val="F7F2FF"/>
                </a:solidFill>
                <a:latin typeface="DejaVu Sans"/>
                <a:ea typeface="DejaVu Sans"/>
                <a:cs typeface="DejaVu Sans"/>
              </a:rPr>
              <a:t>Ejercicios 21 y 22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C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304800"/>
            <a:ext cx="857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125" b="0">
                <a:solidFill>
                  <a:srgbClr val="DED2EE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C-000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6574536"/>
            <a:ext cx="1005840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997BA"/>
                </a:solidFill>
                <a:latin typeface="DejaVu Sans"/>
              </a:defRPr>
            </a:pPr>
            <a:r>
              <a:rPr lang="es-VE" sz="850" b="0">
                <a:solidFill>
                  <a:srgbClr val="A997BA"/>
                </a:solidFill>
                <a:latin typeface="DejaVu Sans"/>
              </a:rPr>
              <a:t>Julieth Linares     SQL Easy     Octubre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C-000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932688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21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C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932688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Cruce entre dos tablas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C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325880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Relacioné los personajes con los datos de sus actores.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C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755648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fr-FR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fr-FR" sz="1250" b="0">
                <a:solidFill>
                  <a:srgbClr val="F7F2FF"/>
                </a:solidFill>
                <a:latin typeface="DejaVu Sans"/>
              </a:rPr>
              <a:t>INNER JOIN y claves 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C-0008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057400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La salida mostró los personajes que tenían una coincidencia en character_actor.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C-0009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569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INNER JOIN conserva las coincidencias. Debo revisar si una relación genera varias filas.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C-000A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081528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Lo usaría para vincular un hallazgo con el registro del equipo al que corresponde.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C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1348740"/>
            <a:ext cx="3845458" cy="2313432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C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3685031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C-000F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730752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22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C-0010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3730752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Composición de varios cruces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C-0011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123944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Conecté personajes y actores mediante una tabla intermedia.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C-0012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553712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INNER JOIN con tabla intermedia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C-001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855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Obtuve los nombres de actor a partir de las relaciones entre las tres tablas.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C-001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367528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Cada cruce necesita una clave correcta para no mezclar registros.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C-0015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879592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Me serviría para relacionar inventario, detecciones y aprobaciones antes de una revisión.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C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4146803"/>
            <a:ext cx="3541247" cy="2313432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C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6483095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pic>
        <p:nvPicPr>
          <p:cNvPr id="58" name="Picture 57" descr="query-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408176"/>
            <a:ext cx="3726586" cy="821334"/>
          </a:xfrm>
          <a:prstGeom prst="rect">
            <a:avLst/>
          </a:prstGeom>
        </p:spPr>
      </p:pic>
      <p:pic>
        <p:nvPicPr>
          <p:cNvPr id="59" name="Picture 58" descr="confirmed-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261514"/>
            <a:ext cx="3726586" cy="1341221"/>
          </a:xfrm>
          <a:prstGeom prst="rect">
            <a:avLst/>
          </a:prstGeom>
        </p:spPr>
      </p:pic>
      <p:pic>
        <p:nvPicPr>
          <p:cNvPr id="60" name="Picture 59" descr="query-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4206240"/>
            <a:ext cx="3422375" cy="930821"/>
          </a:xfrm>
          <a:prstGeom prst="rect">
            <a:avLst/>
          </a:prstGeom>
        </p:spPr>
      </p:pic>
      <p:pic>
        <p:nvPicPr>
          <p:cNvPr id="61" name="Picture 60" descr="confirmed-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5169065"/>
            <a:ext cx="3422375" cy="123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0D-0001-4000-8000-00000000000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F1F5F9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2250" b="1">
                <a:solidFill>
                  <a:srgbClr val="F7F2FF"/>
                </a:solidFill>
                <a:latin typeface="DejaVu Sans"/>
                <a:ea typeface="DejaVu Sans"/>
                <a:cs typeface="DejaVu Sans"/>
              </a:rPr>
              <a:t>Ejercicios 23 y 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D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304800"/>
            <a:ext cx="857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125" b="0">
                <a:solidFill>
                  <a:srgbClr val="DED2EE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D-000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6574536"/>
            <a:ext cx="1005840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997BA"/>
                </a:solidFill>
                <a:latin typeface="DejaVu Sans"/>
              </a:defRPr>
            </a:pPr>
            <a:r>
              <a:rPr lang="es-VE" sz="850" b="0">
                <a:solidFill>
                  <a:srgbClr val="A997BA"/>
                </a:solidFill>
                <a:latin typeface="DejaVu Sans"/>
              </a:rPr>
              <a:t>Julieth Linares     SQL Easy     Octubre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D-000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932688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23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D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932688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Cruces con filtros de exclusión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D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325880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n-US" sz="1250" b="0">
                <a:solidFill>
                  <a:srgbClr val="F7F2FF"/>
                </a:solidFill>
                <a:latin typeface="DejaVu Sans"/>
              </a:rPr>
              <a:t>Excluí a Willow Rosenberg y el programa How I Met Your Mother.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D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755648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n-US" sz="1250" b="0">
                <a:solidFill>
                  <a:srgbClr val="F7F2FF"/>
                </a:solidFill>
                <a:latin typeface="DejaVu Sans"/>
              </a:rPr>
              <a:t>INNER JOIN, WHERE y &lt;&gt;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D-0008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057400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En el resultado apareció Doogie Howser con su programa asociado.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D-0009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569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Puedo filtrar después de relacionar tablas, siempre que mantenga claro el alcance.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D-000A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081528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Lo aplicaría para separar registros fuera del periodo o alcance de una revisión.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D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1348740"/>
            <a:ext cx="4085883" cy="2313432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D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3685031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D-000F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730752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24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D-0010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3730752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Conservación del conjunto izquierdo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D-0011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123944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Quise conservar todos los personajes, aunque no tuvieran actor asociado.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D-0012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553712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LEFT JOIN encadenados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D-001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855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Steve Urkel apareció con NULL en el campo del actor.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D-001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367528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LEFT JOIN me permite ver también las relaciones que faltan.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D-0015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879592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Me ayudaría a encontrar detecciones que todavía no tengan una aprobación asociada.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D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4146803"/>
            <a:ext cx="3442584" cy="2313432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D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6483096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pic>
        <p:nvPicPr>
          <p:cNvPr id="58" name="Picture 57" descr="query-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408176"/>
            <a:ext cx="3967011" cy="1181267"/>
          </a:xfrm>
          <a:prstGeom prst="rect">
            <a:avLst/>
          </a:prstGeom>
        </p:spPr>
      </p:pic>
      <p:pic>
        <p:nvPicPr>
          <p:cNvPr id="59" name="Picture 58" descr="confirmed-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621447"/>
            <a:ext cx="3967011" cy="981288"/>
          </a:xfrm>
          <a:prstGeom prst="rect">
            <a:avLst/>
          </a:prstGeom>
        </p:spPr>
      </p:pic>
      <p:pic>
        <p:nvPicPr>
          <p:cNvPr id="60" name="Picture 59" descr="query-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4206240"/>
            <a:ext cx="3323712" cy="903987"/>
          </a:xfrm>
          <a:prstGeom prst="rect">
            <a:avLst/>
          </a:prstGeom>
        </p:spPr>
      </p:pic>
      <p:pic>
        <p:nvPicPr>
          <p:cNvPr id="61" name="Picture 60" descr="confirmed-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5142231"/>
            <a:ext cx="3323712" cy="125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0E-0001-4000-8000-00000000000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F1F5F9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2250" b="1">
                <a:solidFill>
                  <a:srgbClr val="F7F2FF"/>
                </a:solidFill>
                <a:latin typeface="DejaVu Sans"/>
                <a:ea typeface="DejaVu Sans"/>
                <a:cs typeface="DejaVu Sans"/>
              </a:rPr>
              <a:t>Ejercicios 25 y 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E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304800"/>
            <a:ext cx="857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125" b="0">
                <a:solidFill>
                  <a:srgbClr val="DED2EE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E-000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6574536"/>
            <a:ext cx="1005840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997BA"/>
                </a:solidFill>
                <a:latin typeface="DejaVu Sans"/>
              </a:defRPr>
            </a:pPr>
            <a:r>
              <a:rPr lang="es-VE" sz="850" b="0">
                <a:solidFill>
                  <a:srgbClr val="A997BA"/>
                </a:solidFill>
                <a:latin typeface="DejaVu Sans"/>
              </a:rPr>
              <a:t>Julieth Linares     SQL Easy     Octubre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E-000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932688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25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E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932688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Alias de tablas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E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325880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Usé c, ca y a para escribir la consulta de forma más corta.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E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755648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AS para tablas en LEFT JOIN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E-0008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057400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Mantuve el resultado del ejercicio anterior, incluido el actor que faltaba.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E-0009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569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Los alias facilitan la lectura sin cambiar la lógica de los cruces.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E-000A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081528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Lo usaría para que mis consultas de apoyo sean más fáciles de revisar y mantener.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E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1348740"/>
            <a:ext cx="3423101" cy="2313432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E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3685031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E-000F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730752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26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E-0010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3730752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Alias de columnas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E-0011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123944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Cambié los encabezados para distinguir personaje y actor.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E-0012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553712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pt-BR" sz="1250" b="0">
                <a:solidFill>
                  <a:srgbClr val="F7F2FF"/>
                </a:solidFill>
                <a:latin typeface="DejaVu Sans"/>
              </a:rPr>
              <a:t>AS para etiquetas de salida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E-001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855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La salida mostró character y actor en lugar de dos columnas llamadas name.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E-001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367528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Los nombres de salida pueden ser más claros sin modificar la tabla original.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E-0015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879592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Me serviría al preparar tablas claras para reportes, presentaciones o comunicados.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E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4146803"/>
            <a:ext cx="3442584" cy="2313432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E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6483096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pic>
        <p:nvPicPr>
          <p:cNvPr id="58" name="Picture 57" descr="query-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408176"/>
            <a:ext cx="3304229" cy="903987"/>
          </a:xfrm>
          <a:prstGeom prst="rect">
            <a:avLst/>
          </a:prstGeom>
        </p:spPr>
      </p:pic>
      <p:pic>
        <p:nvPicPr>
          <p:cNvPr id="59" name="Picture 58" descr="confirmed-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344167"/>
            <a:ext cx="3304229" cy="1258568"/>
          </a:xfrm>
          <a:prstGeom prst="rect">
            <a:avLst/>
          </a:prstGeom>
        </p:spPr>
      </p:pic>
      <p:pic>
        <p:nvPicPr>
          <p:cNvPr id="60" name="Picture 59" descr="query-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4206240"/>
            <a:ext cx="3323712" cy="903987"/>
          </a:xfrm>
          <a:prstGeom prst="rect">
            <a:avLst/>
          </a:prstGeom>
        </p:spPr>
      </p:pic>
      <p:pic>
        <p:nvPicPr>
          <p:cNvPr id="61" name="Picture 60" descr="confirmed-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5142231"/>
            <a:ext cx="3323712" cy="125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0F-0001-4000-8000-00000000000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F1F5F9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2250" b="1">
                <a:solidFill>
                  <a:srgbClr val="F7F2FF"/>
                </a:solidFill>
                <a:latin typeface="DejaVu Sans"/>
                <a:ea typeface="DejaVu Sans"/>
                <a:cs typeface="DejaVu Sans"/>
              </a:rPr>
              <a:t>Ejercicios 27 y 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F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304800"/>
            <a:ext cx="857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125" b="0">
                <a:solidFill>
                  <a:srgbClr val="DED2EE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F-000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6574536"/>
            <a:ext cx="1005840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997BA"/>
                </a:solidFill>
                <a:latin typeface="DejaVu Sans"/>
              </a:defRPr>
            </a:pPr>
            <a:r>
              <a:rPr lang="es-VE" sz="850" b="0">
                <a:solidFill>
                  <a:srgbClr val="A997BA"/>
                </a:solidFill>
                <a:latin typeface="DejaVu Sans"/>
              </a:rPr>
              <a:t>Julieth Linares     SQL Easy     Octubre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F-000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932688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27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F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932688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Relación dentro de la misma tabla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F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325880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Relacioné a cada empleado con su jefe dentro de la misma tabla.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F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755648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Self join con alias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F-0008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057400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Obtuve tres relaciones. El registro sin jefe no apareció en el INNER JOIN.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F-0009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569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Los alias permiten representar dos roles distintos de una misma tabla.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F-000A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081528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Lo aplicaría para relacionar responsables y aprobadores en un registro de seguimiento.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F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1348740"/>
            <a:ext cx="4282160" cy="2313431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F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3685031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F-000F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730752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28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F-0010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3730752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Búsqueda de patrones de texto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F-0011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123944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Busqué nombres de robots que incluyeran la secuencia Robot 20.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F-0012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553712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LIKE y comodín 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F-001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855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La captura mostró registros que coincidían con ese fragmento del nombre.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F-001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367528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LIKE permite buscar patrones. El símbolo % cubre caracteres adicionales.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F-0015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879592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Me ayudaría a localizar variantes de un software sin conocer el nombre completo.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F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4146803"/>
            <a:ext cx="4464433" cy="2313432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F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6483096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pic>
        <p:nvPicPr>
          <p:cNvPr id="58" name="Picture 57" descr="query-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408176"/>
            <a:ext cx="4163288" cy="814023"/>
          </a:xfrm>
          <a:prstGeom prst="rect">
            <a:avLst/>
          </a:prstGeom>
        </p:spPr>
      </p:pic>
      <p:pic>
        <p:nvPicPr>
          <p:cNvPr id="59" name="Picture 58" descr="confirmed-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254203"/>
            <a:ext cx="4163288" cy="1348532"/>
          </a:xfrm>
          <a:prstGeom prst="rect">
            <a:avLst/>
          </a:prstGeom>
        </p:spPr>
      </p:pic>
      <p:pic>
        <p:nvPicPr>
          <p:cNvPr id="60" name="Picture 59" descr="query-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4206240"/>
            <a:ext cx="4345561" cy="511242"/>
          </a:xfrm>
          <a:prstGeom prst="rect">
            <a:avLst/>
          </a:prstGeom>
        </p:spPr>
      </p:pic>
      <p:pic>
        <p:nvPicPr>
          <p:cNvPr id="61" name="Picture 60" descr="confirmed-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4749486"/>
            <a:ext cx="4345561" cy="165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10-0001-4000-8000-00000000000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F1F5F9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2250" b="1">
                <a:solidFill>
                  <a:srgbClr val="F7F2FF"/>
                </a:solidFill>
                <a:latin typeface="DejaVu Sans"/>
                <a:ea typeface="DejaVu Sans"/>
                <a:cs typeface="DejaVu Sans"/>
              </a:rPr>
              <a:t>Ejercicios 29 y 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10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304800"/>
            <a:ext cx="857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125" b="0">
                <a:solidFill>
                  <a:srgbClr val="DED2EE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10-000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6574536"/>
            <a:ext cx="1005840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997BA"/>
                </a:solidFill>
                <a:latin typeface="DejaVu Sans"/>
              </a:defRPr>
            </a:pPr>
            <a:r>
              <a:rPr lang="es-VE" sz="850" b="0">
                <a:solidFill>
                  <a:srgbClr val="A997BA"/>
                </a:solidFill>
                <a:latin typeface="DejaVu Sans"/>
              </a:rPr>
              <a:t>Julieth Linares     SQL Easy     Octubre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10-000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932688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29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10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932688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Clasificación condicional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10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325880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Asigné un sonido a cada registro según su especie.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10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755648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n-US" sz="1250" b="0">
                <a:solidFill>
                  <a:srgbClr val="F7F2FF"/>
                </a:solidFill>
                <a:latin typeface="DejaVu Sans"/>
              </a:rPr>
              <a:t>CASE WHEN, THEN y 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10-0008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057400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La nueva columna mostró talk, bark o meow según la condición.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10-0009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569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CASE permite definir reglas. Sin ELSE, un caso no contemplado devuelve NULL.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10-000A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081528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Lo usaría para clasificar pendientes y explicar las reglas que utilicé en el reporte.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10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1348740"/>
            <a:ext cx="3442584" cy="2313432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10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3685031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10-000F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730752"/>
            <a:ext cx="45720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30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10-0010-4000-8000-000000000000}"/>
              </a:ext>
            </a:extLst>
          </p:cNvPr>
          <p:cNvSpPr>
            <a:spLocks noGrp="1"/>
          </p:cNvSpPr>
          <p:nvPr/>
        </p:nvSpPr>
        <p:spPr>
          <a:xfrm>
            <a:off x="1014984" y="3730752"/>
            <a:ext cx="10716768" cy="3566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2FF"/>
                </a:solidFill>
                <a:latin typeface="DejaVu Sans"/>
              </a:defRPr>
            </a:pPr>
            <a:r>
              <a:rPr lang="es-VE" sz="1800" b="1">
                <a:solidFill>
                  <a:srgbClr val="F7F2FF"/>
                </a:solidFill>
                <a:latin typeface="DejaVu Sans"/>
              </a:rPr>
              <a:t>Extracción de subcadenas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10-0011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123944"/>
            <a:ext cx="533095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Busqué robots cuya ubicación terminara en NY.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10-0012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553712"/>
            <a:ext cx="5330952" cy="2468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SUBSTR() con índice negativo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10-001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855464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Obtuve registros con ese mismo código al final de location.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10-001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367528"/>
            <a:ext cx="5330952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SUBSTR permite revisar una parte del texto. Su sintaxis depende del motor SQL.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10-0015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879592"/>
            <a:ext cx="533095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25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250" b="0">
                <a:solidFill>
                  <a:srgbClr val="F7F2FF"/>
                </a:solidFill>
                <a:latin typeface="DejaVu Sans"/>
              </a:rPr>
              <a:t>Me serviría para separar códigos o sufijos de un inventario cuando sigan un formato común.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10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4146803"/>
            <a:ext cx="4479770" cy="2313432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10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6483096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pic>
        <p:nvPicPr>
          <p:cNvPr id="58" name="Picture 57" descr="query-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408176"/>
            <a:ext cx="3323712" cy="903987"/>
          </a:xfrm>
          <a:prstGeom prst="rect">
            <a:avLst/>
          </a:prstGeom>
        </p:spPr>
      </p:pic>
      <p:pic>
        <p:nvPicPr>
          <p:cNvPr id="59" name="Picture 58" descr="confirmed-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344167"/>
            <a:ext cx="3323712" cy="1258568"/>
          </a:xfrm>
          <a:prstGeom prst="rect">
            <a:avLst/>
          </a:prstGeom>
        </p:spPr>
      </p:pic>
      <p:pic>
        <p:nvPicPr>
          <p:cNvPr id="60" name="Picture 59" descr="query-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4206240"/>
            <a:ext cx="4360898" cy="511242"/>
          </a:xfrm>
          <a:prstGeom prst="rect">
            <a:avLst/>
          </a:prstGeom>
        </p:spPr>
      </p:pic>
      <p:pic>
        <p:nvPicPr>
          <p:cNvPr id="61" name="Picture 60" descr="confirmed-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4749486"/>
            <a:ext cx="4360898" cy="165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11-0001-4000-8000-00000000000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F1F5F9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2250" b="1">
                <a:solidFill>
                  <a:srgbClr val="F7F2FF"/>
                </a:solidFill>
                <a:latin typeface="DejaVu Sans"/>
                <a:ea typeface="DejaVu Sans"/>
                <a:cs typeface="DejaVu Sans"/>
              </a:rPr>
              <a:t>Ejercicio 31 · Prioridad entre valores disponibles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11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304800"/>
            <a:ext cx="857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125" b="0">
                <a:solidFill>
                  <a:srgbClr val="DED2EE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11-000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6574536"/>
            <a:ext cx="1005840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997BA"/>
                </a:solidFill>
                <a:latin typeface="DejaVu Sans"/>
              </a:defRPr>
            </a:pPr>
            <a:r>
              <a:rPr lang="es-VE" sz="850" b="0">
                <a:solidFill>
                  <a:srgbClr val="A997BA"/>
                </a:solidFill>
                <a:latin typeface="DejaVu Sans"/>
              </a:rPr>
              <a:t>Julieth Linares     SQL Easy     Octubre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11-0004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941832"/>
            <a:ext cx="548640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C4A0FF"/>
                </a:solidFill>
                <a:latin typeface="DejaVu Sans"/>
              </a:defRPr>
            </a:pPr>
            <a:r>
              <a:rPr lang="es-VE" sz="3100" b="1">
                <a:solidFill>
                  <a:srgbClr val="C4A0FF"/>
                </a:solidFill>
                <a:latin typeface="DejaVu Sans"/>
              </a:rPr>
              <a:t>COALESCE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11-0005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1636776"/>
            <a:ext cx="5029200" cy="7498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700" b="1">
                <a:solidFill>
                  <a:srgbClr val="C4A0FF"/>
                </a:solidFill>
                <a:latin typeface="DejaVu Sans"/>
              </a:rPr>
              <a:t>Objetivo: </a:t>
            </a:r>
            <a:r>
              <a:rPr lang="es-VE" sz="1700" b="0">
                <a:solidFill>
                  <a:srgbClr val="F7F2FF"/>
                </a:solidFill>
                <a:latin typeface="DejaVu Sans"/>
              </a:rPr>
              <a:t>Elegí el primer dato disponible siguiendo el orden de las columnas.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11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414016"/>
            <a:ext cx="5029200" cy="7498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700" b="1">
                <a:solidFill>
                  <a:srgbClr val="C4A0FF"/>
                </a:solidFill>
                <a:latin typeface="DejaVu Sans"/>
              </a:rPr>
              <a:t>Concepto SQL: </a:t>
            </a:r>
            <a:r>
              <a:rPr lang="es-VE" sz="1700" b="0">
                <a:solidFill>
                  <a:srgbClr val="F7F2FF"/>
                </a:solidFill>
                <a:latin typeface="DejaVu Sans"/>
              </a:rPr>
              <a:t>COALESCE() y alias de columna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11-0009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081528"/>
            <a:ext cx="5029200" cy="7498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700" b="1">
                <a:solidFill>
                  <a:srgbClr val="C4A0FF"/>
                </a:solidFill>
                <a:latin typeface="DejaVu Sans"/>
              </a:rPr>
              <a:t>Lo que obtuve: </a:t>
            </a:r>
            <a:r>
              <a:rPr lang="es-VE" sz="1700" b="0">
                <a:solidFill>
                  <a:srgbClr val="F7F2FF"/>
                </a:solidFill>
                <a:latin typeface="DejaVu Sans"/>
              </a:rPr>
              <a:t>La consulta tomó tank, luego gun y después sword. Si faltaban todos, dejó NULL.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11-000A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3986784"/>
            <a:ext cx="5029200" cy="7498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700" b="1">
                <a:solidFill>
                  <a:srgbClr val="C4A0FF"/>
                </a:solidFill>
                <a:latin typeface="DejaVu Sans"/>
              </a:rPr>
              <a:t>Lo que aprendí: </a:t>
            </a:r>
            <a:r>
              <a:rPr lang="es-VE" sz="1700" b="0">
                <a:solidFill>
                  <a:srgbClr val="F7F2FF"/>
                </a:solidFill>
                <a:latin typeface="DejaVu Sans"/>
              </a:rPr>
              <a:t>COALESCE respeta el orden de prioridad que defino.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11-000B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992624"/>
            <a:ext cx="5029200" cy="7498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7F2FF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700" b="1">
                <a:solidFill>
                  <a:srgbClr val="C4A0FF"/>
                </a:solidFill>
                <a:latin typeface="DejaVu Sans"/>
              </a:rPr>
              <a:t>En mi trabajo: </a:t>
            </a:r>
            <a:r>
              <a:rPr lang="es-VE" sz="1700" b="0">
                <a:solidFill>
                  <a:srgbClr val="F7F2FF"/>
                </a:solidFill>
                <a:latin typeface="DejaVu Sans"/>
              </a:rPr>
              <a:t>Lo aplicaría para consolidar un responsable desde varias fuentes sin perder los datos ausentes.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11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1655064"/>
            <a:ext cx="539496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A0FF"/>
                </a:solidFill>
                <a:latin typeface="DejaVu Sans"/>
              </a:defRPr>
            </a:pPr>
            <a:r>
              <a:rPr lang="es-VE" sz="1200" b="1">
                <a:solidFill>
                  <a:srgbClr val="C4A0FF"/>
                </a:solidFill>
                <a:latin typeface="DejaVu Sans"/>
              </a:rPr>
              <a:t>MI CONSULTA Y EL RESULTADO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11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4476" y="2080260"/>
            <a:ext cx="4612878" cy="2295144"/>
          </a:xfrm>
          <a:prstGeom prst="rect">
            <a:avLst/>
          </a:prstGeom>
          <a:solidFill>
            <a:srgbClr val="2C1A42"/>
          </a:solidFill>
          <a:ln w="9525">
            <a:solidFill>
              <a:srgbClr val="A875EF"/>
            </a:solidFill>
          </a:ln>
        </p:spPr>
        <p:txBody>
          <a:bodyPr/>
          <a:lstStyle/>
          <a:p>
            <a:endParaRPr lang="es-V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11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153912" y="4398264"/>
            <a:ext cx="557784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97BA"/>
                </a:solidFill>
                <a:latin typeface="DejaVu Sans"/>
              </a:defRPr>
            </a:pPr>
            <a:r>
              <a:rPr lang="es-VE" sz="950" b="0">
                <a:solidFill>
                  <a:srgbClr val="A997BA"/>
                </a:solidFill>
                <a:latin typeface="DejaVu Sans"/>
              </a:rPr>
              <a:t>Mi consulta y su resultado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11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172200" y="4553712"/>
            <a:ext cx="5212080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C4A0FF"/>
                </a:solidFill>
                <a:latin typeface="DejaVu Sans"/>
              </a:defRPr>
            </a:pPr>
            <a:r>
              <a:rPr lang="es-VE" sz="2100" b="1">
                <a:solidFill>
                  <a:srgbClr val="C4A0FF"/>
                </a:solidFill>
                <a:latin typeface="DejaVu Sans"/>
              </a:rPr>
              <a:t>La función toma el primer dato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C4A0FF"/>
                </a:solidFill>
                <a:latin typeface="DejaVu Sans"/>
              </a:defRPr>
            </a:pPr>
            <a:r>
              <a:rPr lang="es-VE" sz="2100" b="1">
                <a:solidFill>
                  <a:srgbClr val="C4A0FF"/>
                </a:solidFill>
                <a:latin typeface="DejaVu Sans"/>
              </a:rPr>
              <a:t>disponible según el orden que definí.</a:t>
            </a:r>
          </a:p>
        </p:txBody>
      </p:sp>
      <p:pic>
        <p:nvPicPr>
          <p:cNvPr id="18" name="Picture 17" descr="query-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2139696"/>
            <a:ext cx="4494006" cy="526847"/>
          </a:xfrm>
          <a:prstGeom prst="rect">
            <a:avLst/>
          </a:prstGeom>
        </p:spPr>
      </p:pic>
      <p:pic>
        <p:nvPicPr>
          <p:cNvPr id="19" name="Picture 18" descr="confirmed-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698547"/>
            <a:ext cx="4494006" cy="161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12-0001-4000-8000-00000000000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7F2FF"/>
                </a:solidFill>
                <a:latin typeface="DejaVu Sans"/>
              </a:defRPr>
            </a:pPr>
            <a:r>
              <a:rPr lang="es-VE" sz="2500" b="1">
                <a:solidFill>
                  <a:srgbClr val="F7F2FF"/>
                </a:solidFill>
                <a:latin typeface="DejaVu Sans"/>
              </a:rPr>
              <a:t>Mi reflexión sobre el laboratorio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12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304800"/>
            <a:ext cx="857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lang="es-VE" sz="1125" b="0">
                <a:solidFill>
                  <a:srgbClr val="DED2EE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12-0003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6574536"/>
            <a:ext cx="1005840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997BA"/>
                </a:solidFill>
                <a:latin typeface="DejaVu Sans"/>
              </a:defRPr>
            </a:pPr>
            <a:r>
              <a:rPr lang="es-VE" sz="850" b="0">
                <a:solidFill>
                  <a:srgbClr val="A997BA"/>
                </a:solidFill>
                <a:latin typeface="DejaVu Sans"/>
              </a:rPr>
              <a:t>Julieth Linares     SQL Easy     Octubre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12-0004-4000-8000-000000000000}"/>
              </a:ext>
            </a:extLst>
          </p:cNvPr>
          <p:cNvSpPr>
            <a:spLocks noGrp="1"/>
          </p:cNvSpPr>
          <p:nvPr/>
        </p:nvSpPr>
        <p:spPr>
          <a:xfrm>
            <a:off x="400050" y="952500"/>
            <a:ext cx="105727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C4A0FF"/>
                </a:solidFill>
                <a:latin typeface="DejaVu Sans"/>
              </a:defRPr>
            </a:pPr>
            <a:r>
              <a:rPr lang="es-VE" sz="2600" b="1">
                <a:solidFill>
                  <a:srgbClr val="C4A0FF"/>
                </a:solidFill>
                <a:latin typeface="DejaVu Sans"/>
              </a:rPr>
              <a:t>Lo que me llevo de estos ejercicios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12-0005-4000-8000-000000000000}"/>
              </a:ext>
            </a:extLst>
          </p:cNvPr>
          <p:cNvSpPr>
            <a:spLocks noGrp="1"/>
          </p:cNvSpPr>
          <p:nvPr/>
        </p:nvSpPr>
        <p:spPr>
          <a:xfrm>
            <a:off x="400050" y="1704975"/>
            <a:ext cx="5286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Lo que me resultó más directo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12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2313432"/>
            <a:ext cx="5303520" cy="1508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DED2EE"/>
                </a:solidFill>
                <a:latin typeface="DejaVu Sans"/>
              </a:defRPr>
            </a:pPr>
            <a:r>
              <a:rPr lang="es-VE" sz="1700" b="0" dirty="0">
                <a:solidFill>
                  <a:srgbClr val="DED2EE"/>
                </a:solidFill>
                <a:latin typeface="DejaVu Sans"/>
              </a:rPr>
              <a:t>La selección y los filtros básicos me ayudaron a entender cómo pedir solo los datos que necesito</a:t>
            </a:r>
            <a:r>
              <a:rPr lang="es-VE" sz="1700" dirty="0">
                <a:solidFill>
                  <a:srgbClr val="DED2EE"/>
                </a:solidFill>
                <a:latin typeface="DejaVu Sans"/>
              </a:rPr>
              <a:t>, y considero que la </a:t>
            </a:r>
            <a:r>
              <a:rPr lang="es-VE" sz="1700" b="0" dirty="0">
                <a:solidFill>
                  <a:srgbClr val="DED2EE"/>
                </a:solidFill>
                <a:latin typeface="DejaVu Sans"/>
              </a:rPr>
              <a:t>ordenación y LIMIT hicieron más fácil revisar la salida.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12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448425" y="1704975"/>
            <a:ext cx="5286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0FF"/>
                </a:solidFill>
                <a:latin typeface="DejaVu Sans"/>
              </a:defRPr>
            </a:pPr>
            <a:r>
              <a:rPr lang="es-VE" sz="2000" b="1">
                <a:solidFill>
                  <a:srgbClr val="C4A0FF"/>
                </a:solidFill>
                <a:latin typeface="DejaVu Sans"/>
              </a:rPr>
              <a:t>Lo que me exigió más atención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12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446520" y="2313432"/>
            <a:ext cx="5303520" cy="160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DED2EE"/>
                </a:solidFill>
                <a:latin typeface="DejaVu Sans"/>
              </a:defRPr>
            </a:pPr>
            <a:r>
              <a:rPr lang="es-VE" sz="1700" b="0" dirty="0">
                <a:solidFill>
                  <a:srgbClr val="DED2EE"/>
                </a:solidFill>
                <a:latin typeface="DejaVu Sans"/>
              </a:rPr>
              <a:t>En los </a:t>
            </a:r>
            <a:r>
              <a:rPr lang="es-VE" sz="1700" dirty="0" err="1">
                <a:solidFill>
                  <a:srgbClr val="DED2EE"/>
                </a:solidFill>
                <a:latin typeface="DejaVu Sans"/>
              </a:rPr>
              <a:t>joints</a:t>
            </a:r>
            <a:r>
              <a:rPr lang="es-VE" sz="1700" dirty="0">
                <a:solidFill>
                  <a:srgbClr val="DED2EE"/>
                </a:solidFill>
                <a:latin typeface="DejaVu Sans"/>
              </a:rPr>
              <a:t> </a:t>
            </a:r>
            <a:r>
              <a:rPr lang="es-VE" sz="1700" b="0" dirty="0">
                <a:solidFill>
                  <a:srgbClr val="DED2EE"/>
                </a:solidFill>
                <a:latin typeface="DejaVu Sans"/>
              </a:rPr>
              <a:t>y las subconsultas tuve que fijarme más en las relaciones y en los registros que podían quedar fuera. También aprendí a prestar atención a los valores NULL.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12-0009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096512"/>
            <a:ext cx="1088136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C4A0FF"/>
                </a:solidFill>
                <a:latin typeface="DejaVu Sans"/>
              </a:defRPr>
            </a:pPr>
            <a:r>
              <a:rPr lang="es-VE" sz="2300" b="1" dirty="0">
                <a:solidFill>
                  <a:srgbClr val="C4A0FF"/>
                </a:solidFill>
                <a:latin typeface="DejaVu Sans"/>
              </a:rPr>
              <a:t>Cómo lo conecto con mi trabajo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12-000A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4645152"/>
            <a:ext cx="11064240" cy="8412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DED2EE"/>
                </a:solidFill>
                <a:latin typeface="DejaVu Sans"/>
              </a:defRPr>
            </a:pPr>
            <a:r>
              <a:rPr lang="es-VE" sz="1700" b="0" dirty="0">
                <a:solidFill>
                  <a:srgbClr val="DED2EE"/>
                </a:solidFill>
                <a:latin typeface="DejaVu Sans"/>
              </a:rPr>
              <a:t>Veo estas consultas como una base para revisar inventarios y organizar el seguimiento de hallazgos e </a:t>
            </a:r>
            <a:r>
              <a:rPr lang="es-VE" sz="1700" b="0" dirty="0" err="1">
                <a:solidFill>
                  <a:srgbClr val="DED2EE"/>
                </a:solidFill>
                <a:latin typeface="DejaVu Sans"/>
              </a:rPr>
              <a:t>IoCs</a:t>
            </a:r>
            <a:r>
              <a:rPr lang="es-VE" sz="1700" dirty="0">
                <a:solidFill>
                  <a:srgbClr val="DED2EE"/>
                </a:solidFill>
                <a:latin typeface="DejaVu Sans"/>
              </a:rPr>
              <a:t>, como t</a:t>
            </a:r>
            <a:r>
              <a:rPr lang="es-VE" sz="1700" b="0" dirty="0">
                <a:solidFill>
                  <a:srgbClr val="DED2EE"/>
                </a:solidFill>
                <a:latin typeface="DejaVu Sans"/>
              </a:rPr>
              <a:t>ambién me pueden ayudar a preparar reportes más claros y comprobar qué información falta a la hora de trabajar con múltiples fuentes de datos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12-000B-4000-8000-000000000000}"/>
              </a:ext>
            </a:extLst>
          </p:cNvPr>
          <p:cNvSpPr>
            <a:spLocks noGrp="1"/>
          </p:cNvSpPr>
          <p:nvPr/>
        </p:nvSpPr>
        <p:spPr>
          <a:xfrm>
            <a:off x="457200" y="5779008"/>
            <a:ext cx="1106424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7F2FF"/>
                </a:solidFill>
                <a:latin typeface="DejaVu Sans"/>
              </a:defRPr>
            </a:pPr>
            <a:r>
              <a:rPr lang="es-VE" sz="1700" b="1">
                <a:solidFill>
                  <a:srgbClr val="F7F2FF"/>
                </a:solidFill>
                <a:latin typeface="DejaVu Sans"/>
              </a:rPr>
              <a:t>Mi principal aprendizaje es revisar el criterio de la consulta, además del resultado. Conservar ambos me permite explicar mejor lo que hice y volver a comprobarlo.</a:t>
            </a:r>
          </a:p>
        </p:txBody>
      </p:sp>
    </p:spTree>
    <p:extLst>
      <p:ext uri="{BB962C8B-B14F-4D97-AF65-F5344CB8AC3E}">
        <p14:creationId xmlns:p14="http://schemas.microsoft.com/office/powerpoint/2010/main" val="18000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129b2cc-4393-4691-814d-95eb8359c06c}" enabled="1" method="Standard" siteId="{deff24bb-2089-4400-8c8e-f71e680378b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8575</Words>
  <Application>Microsoft Office PowerPoint</Application>
  <PresentationFormat>Widescreen</PresentationFormat>
  <Paragraphs>705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KPMG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Linares, Julieth</dc:creator>
  <cp:lastModifiedBy>Linares, Julieth</cp:lastModifiedBy>
  <cp:revision>1</cp:revision>
  <dcterms:created xsi:type="dcterms:W3CDTF">2026-10-28T01:38:00Z</dcterms:created>
  <dcterms:modified xsi:type="dcterms:W3CDTF">2026-10-28T02:20:30Z</dcterms:modified>
</cp:coreProperties>
</file>